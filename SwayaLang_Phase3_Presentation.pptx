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0" cy="54864"/>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2011680"/>
          </a:xfrm>
          <a:prstGeom prst="rect">
            <a:avLst/>
          </a:prstGeom>
          <a:noFill/>
        </p:spPr>
        <p:txBody>
          <a:bodyPr wrap="square">
            <a:spAutoFit/>
          </a:bodyPr>
          <a:lstStyle/>
          <a:p>
            <a:pPr>
              <a:defRPr sz="4600" b="1">
                <a:solidFill>
                  <a:srgbClr val="FFFFFF"/>
                </a:solidFill>
              </a:defRPr>
            </a:pPr>
            <a:r>
              <a:t>SwayaLang</a:t>
            </a:r>
          </a:p>
          <a:p>
            <a:pPr>
              <a:spcBef>
                <a:spcPts val="800"/>
              </a:spcBef>
              <a:defRPr sz="1900">
                <a:solidFill>
                  <a:srgbClr val="38BDF8"/>
                </a:solidFill>
              </a:defRPr>
            </a:pPr>
            <a:r>
              <a:t>A Domain-Specific Language, Compiler &amp; Optimizer for Backtestable Stock Trading Strategies</a:t>
            </a:r>
          </a:p>
          <a:p>
            <a:pPr>
              <a:spcBef>
                <a:spcPts val="1200"/>
              </a:spcBef>
              <a:defRPr sz="1400">
                <a:solidFill>
                  <a:srgbClr val="94A3B8"/>
                </a:solidFill>
              </a:defRPr>
            </a:pPr>
            <a:r>
              <a:t>Phase 3: Final Implementation, Optimization Passes, Empirical Benchmarking &amp; System Defense</a:t>
            </a:r>
          </a:p>
        </p:txBody>
      </p:sp>
      <p:sp>
        <p:nvSpPr>
          <p:cNvPr id="5" name="Rounded Rectangle 4"/>
          <p:cNvSpPr/>
          <p:nvPr/>
        </p:nvSpPr>
        <p:spPr>
          <a:xfrm>
            <a:off x="914400" y="4206240"/>
            <a:ext cx="10332720" cy="18288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389120"/>
            <a:ext cx="9784080" cy="1463040"/>
          </a:xfrm>
          <a:prstGeom prst="rect">
            <a:avLst/>
          </a:prstGeom>
          <a:noFill/>
        </p:spPr>
        <p:txBody>
          <a:bodyPr wrap="square">
            <a:spAutoFit/>
          </a:bodyPr>
          <a:lstStyle/>
          <a:p>
            <a:pPr>
              <a:defRPr sz="1400" b="1">
                <a:solidFill>
                  <a:srgbClr val="FFFFFF"/>
                </a:solidFill>
              </a:defRPr>
            </a:pPr>
            <a:r>
              <a:t>Author: Swayam Shukla  |  Register No: 24BCE0751  |  Degree: B.Tech Computer Science &amp; Engineering</a:t>
            </a:r>
          </a:p>
          <a:p>
            <a:pPr>
              <a:spcBef>
                <a:spcPts val="600"/>
              </a:spcBef>
              <a:defRPr sz="1300">
                <a:solidFill>
                  <a:srgbClr val="38BDF8"/>
                </a:solidFill>
              </a:defRPr>
            </a:pPr>
            <a:r>
              <a:t>Course: Compiler Design Laboratory (BCSE307P)  |  Review: Review 3 — Final Project Review</a:t>
            </a:r>
          </a:p>
          <a:p>
            <a:pPr>
              <a:spcBef>
                <a:spcPts val="600"/>
              </a:spcBef>
              <a:defRPr sz="1200">
                <a:solidFill>
                  <a:srgbClr val="94A3B8"/>
                </a:solidFill>
              </a:defRPr>
            </a:pPr>
            <a:r>
              <a:t>Institution: School of Computer Science &amp; Engineering (SCOPE), Vellore Institute of Technology (VIT), Vellore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REVIEW 3 EVALUATION ALIGNMENT</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02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Project Deliverables &amp; Review 3 Rubric Alignment Matrix</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Direct point-by-point mapping between official course evaluation criteria and implemented deliverables.</a:t>
            </a:r>
          </a:p>
        </p:txBody>
      </p:sp>
      <p:sp>
        <p:nvSpPr>
          <p:cNvPr id="7" name="Rounded Rectangle 6"/>
          <p:cNvSpPr/>
          <p:nvPr/>
        </p:nvSpPr>
        <p:spPr>
          <a:xfrm>
            <a:off x="731520" y="164592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800600" cy="685800"/>
          </a:xfrm>
          <a:prstGeom prst="rect">
            <a:avLst/>
          </a:prstGeom>
          <a:noFill/>
        </p:spPr>
        <p:txBody>
          <a:bodyPr wrap="square">
            <a:spAutoFit/>
          </a:bodyPr>
          <a:lstStyle/>
          <a:p>
            <a:pPr>
              <a:defRPr sz="1200" b="1">
                <a:solidFill>
                  <a:srgbClr val="10B981"/>
                </a:solidFill>
              </a:defRPr>
            </a:pPr>
            <a:r>
              <a:t>✓ Project Completion</a:t>
            </a:r>
          </a:p>
          <a:p>
            <a:pPr>
              <a:spcBef>
                <a:spcPts val="200"/>
              </a:spcBef>
              <a:defRPr sz="950">
                <a:solidFill>
                  <a:srgbClr val="94A3B8"/>
                </a:solidFill>
              </a:defRPr>
            </a:pPr>
            <a:r>
              <a:t>100% of planned 3 phases delivered: Front-end, Semantics/IR, Optimization &amp; Backtesting.</a:t>
            </a:r>
          </a:p>
        </p:txBody>
      </p:sp>
      <p:sp>
        <p:nvSpPr>
          <p:cNvPr id="9" name="Rounded Rectangle 8"/>
          <p:cNvSpPr/>
          <p:nvPr/>
        </p:nvSpPr>
        <p:spPr>
          <a:xfrm>
            <a:off x="6172200" y="164592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37360"/>
            <a:ext cx="4800600" cy="685800"/>
          </a:xfrm>
          <a:prstGeom prst="rect">
            <a:avLst/>
          </a:prstGeom>
          <a:noFill/>
        </p:spPr>
        <p:txBody>
          <a:bodyPr wrap="square">
            <a:spAutoFit/>
          </a:bodyPr>
          <a:lstStyle/>
          <a:p>
            <a:pPr>
              <a:defRPr sz="1200" b="1">
                <a:solidFill>
                  <a:srgbClr val="38BDF8"/>
                </a:solidFill>
              </a:defRPr>
            </a:pPr>
            <a:r>
              <a:t>✓ Functional Correctness</a:t>
            </a:r>
          </a:p>
          <a:p>
            <a:pPr>
              <a:spcBef>
                <a:spcPts val="200"/>
              </a:spcBef>
              <a:defRPr sz="950">
                <a:solidFill>
                  <a:srgbClr val="94A3B8"/>
                </a:solidFill>
              </a:defRPr>
            </a:pPr>
            <a:r>
              <a:t>Validated on historical AAPL/TSLA daily data; backtest PnL &amp; trade logs verified.</a:t>
            </a:r>
          </a:p>
        </p:txBody>
      </p:sp>
      <p:sp>
        <p:nvSpPr>
          <p:cNvPr id="11" name="Rounded Rectangle 10"/>
          <p:cNvSpPr/>
          <p:nvPr/>
        </p:nvSpPr>
        <p:spPr>
          <a:xfrm>
            <a:off x="731520" y="265176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43200"/>
            <a:ext cx="4800600" cy="685800"/>
          </a:xfrm>
          <a:prstGeom prst="rect">
            <a:avLst/>
          </a:prstGeom>
          <a:noFill/>
        </p:spPr>
        <p:txBody>
          <a:bodyPr wrap="square">
            <a:spAutoFit/>
          </a:bodyPr>
          <a:lstStyle/>
          <a:p>
            <a:pPr>
              <a:defRPr sz="1200" b="1">
                <a:solidFill>
                  <a:srgbClr val="A855F7"/>
                </a:solidFill>
              </a:defRPr>
            </a:pPr>
            <a:r>
              <a:t>✓ Technical Complexity</a:t>
            </a:r>
          </a:p>
          <a:p>
            <a:pPr>
              <a:spcBef>
                <a:spcPts val="200"/>
              </a:spcBef>
              <a:defRPr sz="950">
                <a:solidFill>
                  <a:srgbClr val="94A3B8"/>
                </a:solidFill>
              </a:defRPr>
            </a:pPr>
            <a:r>
              <a:t>Multi-pass compiler pipeline: LL(1) recursive descent, TAC lowering, DAG-based CSE &amp; CF.</a:t>
            </a:r>
          </a:p>
        </p:txBody>
      </p:sp>
      <p:sp>
        <p:nvSpPr>
          <p:cNvPr id="13" name="Rounded Rectangle 12"/>
          <p:cNvSpPr/>
          <p:nvPr/>
        </p:nvSpPr>
        <p:spPr>
          <a:xfrm>
            <a:off x="6172200" y="265176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743200"/>
            <a:ext cx="4800600" cy="685800"/>
          </a:xfrm>
          <a:prstGeom prst="rect">
            <a:avLst/>
          </a:prstGeom>
          <a:noFill/>
        </p:spPr>
        <p:txBody>
          <a:bodyPr wrap="square">
            <a:spAutoFit/>
          </a:bodyPr>
          <a:lstStyle/>
          <a:p>
            <a:pPr>
              <a:defRPr sz="1200" b="1">
                <a:solidFill>
                  <a:srgbClr val="38BDF8"/>
                </a:solidFill>
              </a:defRPr>
            </a:pPr>
            <a:r>
              <a:t>✓ Compiler Integration</a:t>
            </a:r>
          </a:p>
          <a:p>
            <a:pPr>
              <a:spcBef>
                <a:spcPts val="200"/>
              </a:spcBef>
              <a:defRPr sz="950">
                <a:solidFill>
                  <a:srgbClr val="94A3B8"/>
                </a:solidFill>
              </a:defRPr>
            </a:pPr>
            <a:r>
              <a:t>Classical 7-stage architecture consuming formal EBNF with strictly separated passes.</a:t>
            </a:r>
          </a:p>
        </p:txBody>
      </p:sp>
      <p:sp>
        <p:nvSpPr>
          <p:cNvPr id="15" name="Rounded Rectangle 14"/>
          <p:cNvSpPr/>
          <p:nvPr/>
        </p:nvSpPr>
        <p:spPr>
          <a:xfrm>
            <a:off x="731520" y="365760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49039"/>
            <a:ext cx="4800600" cy="685800"/>
          </a:xfrm>
          <a:prstGeom prst="rect">
            <a:avLst/>
          </a:prstGeom>
          <a:noFill/>
        </p:spPr>
        <p:txBody>
          <a:bodyPr wrap="square">
            <a:spAutoFit/>
          </a:bodyPr>
          <a:lstStyle/>
          <a:p>
            <a:pPr>
              <a:defRPr sz="1200" b="1">
                <a:solidFill>
                  <a:srgbClr val="F59E0B"/>
                </a:solidFill>
              </a:defRPr>
            </a:pPr>
            <a:r>
              <a:t>✓ Innovation &amp; Relevance</a:t>
            </a:r>
          </a:p>
          <a:p>
            <a:pPr>
              <a:spcBef>
                <a:spcPts val="200"/>
              </a:spcBef>
              <a:defRPr sz="950">
                <a:solidFill>
                  <a:srgbClr val="94A3B8"/>
                </a:solidFill>
              </a:defRPr>
            </a:pPr>
            <a:r>
              <a:t>Eliminates imperative Python boilerplate; declarative DSL for quantitative finance rules.</a:t>
            </a:r>
          </a:p>
        </p:txBody>
      </p:sp>
      <p:sp>
        <p:nvSpPr>
          <p:cNvPr id="17" name="Rounded Rectangle 16"/>
          <p:cNvSpPr/>
          <p:nvPr/>
        </p:nvSpPr>
        <p:spPr>
          <a:xfrm>
            <a:off x="6172200" y="365760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749039"/>
            <a:ext cx="4800600" cy="685800"/>
          </a:xfrm>
          <a:prstGeom prst="rect">
            <a:avLst/>
          </a:prstGeom>
          <a:noFill/>
        </p:spPr>
        <p:txBody>
          <a:bodyPr wrap="square">
            <a:spAutoFit/>
          </a:bodyPr>
          <a:lstStyle/>
          <a:p>
            <a:pPr>
              <a:defRPr sz="1200" b="1">
                <a:solidFill>
                  <a:srgbClr val="10B981"/>
                </a:solidFill>
              </a:defRPr>
            </a:pPr>
            <a:r>
              <a:t>✓ Code Quality &amp; Structure</a:t>
            </a:r>
          </a:p>
          <a:p>
            <a:pPr>
              <a:spcBef>
                <a:spcPts val="200"/>
              </a:spcBef>
              <a:defRPr sz="950">
                <a:solidFill>
                  <a:srgbClr val="94A3B8"/>
                </a:solidFill>
              </a:defRPr>
            </a:pPr>
            <a:r>
              <a:t>Modular package architecture, immutable AST dataclasses, PEP-8 compliance, full type hints.</a:t>
            </a:r>
          </a:p>
        </p:txBody>
      </p:sp>
      <p:sp>
        <p:nvSpPr>
          <p:cNvPr id="19" name="Rounded Rectangle 18"/>
          <p:cNvSpPr/>
          <p:nvPr/>
        </p:nvSpPr>
        <p:spPr>
          <a:xfrm>
            <a:off x="731520" y="466344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754879"/>
            <a:ext cx="4800600" cy="685800"/>
          </a:xfrm>
          <a:prstGeom prst="rect">
            <a:avLst/>
          </a:prstGeom>
          <a:noFill/>
        </p:spPr>
        <p:txBody>
          <a:bodyPr wrap="square">
            <a:spAutoFit/>
          </a:bodyPr>
          <a:lstStyle/>
          <a:p>
            <a:pPr>
              <a:defRPr sz="1200" b="1">
                <a:solidFill>
                  <a:srgbClr val="10B981"/>
                </a:solidFill>
              </a:defRPr>
            </a:pPr>
            <a:r>
              <a:t>✓ Testing &amp; Validation</a:t>
            </a:r>
          </a:p>
          <a:p>
            <a:pPr>
              <a:spcBef>
                <a:spcPts val="200"/>
              </a:spcBef>
              <a:defRPr sz="950">
                <a:solidFill>
                  <a:srgbClr val="94A3B8"/>
                </a:solidFill>
              </a:defRPr>
            </a:pPr>
            <a:r>
              <a:t>84 automated pytest test cases covering valid, invalid, boundary, and edge conditions (100% pass).</a:t>
            </a:r>
          </a:p>
        </p:txBody>
      </p:sp>
      <p:sp>
        <p:nvSpPr>
          <p:cNvPr id="21" name="Rounded Rectangle 20"/>
          <p:cNvSpPr/>
          <p:nvPr/>
        </p:nvSpPr>
        <p:spPr>
          <a:xfrm>
            <a:off x="6172200" y="4663440"/>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754879"/>
            <a:ext cx="4800600" cy="685800"/>
          </a:xfrm>
          <a:prstGeom prst="rect">
            <a:avLst/>
          </a:prstGeom>
          <a:noFill/>
        </p:spPr>
        <p:txBody>
          <a:bodyPr wrap="square">
            <a:spAutoFit/>
          </a:bodyPr>
          <a:lstStyle/>
          <a:p>
            <a:pPr>
              <a:defRPr sz="1200" b="1">
                <a:solidFill>
                  <a:srgbClr val="A855F7"/>
                </a:solidFill>
              </a:defRPr>
            </a:pPr>
            <a:r>
              <a:t>✓ Demonstration &amp; Web IDE</a:t>
            </a:r>
          </a:p>
          <a:p>
            <a:pPr>
              <a:spcBef>
                <a:spcPts val="200"/>
              </a:spcBef>
              <a:defRPr sz="950">
                <a:solidFill>
                  <a:srgbClr val="94A3B8"/>
                </a:solidFill>
              </a:defRPr>
            </a:pPr>
            <a:r>
              <a:t>Live interactive CLI demo (demonstrate_phase3.py) and Monaco-powered Web IDE dashboard.</a:t>
            </a:r>
          </a:p>
        </p:txBody>
      </p:sp>
      <p:sp>
        <p:nvSpPr>
          <p:cNvPr id="23" name="Rounded Rectangle 22"/>
          <p:cNvSpPr/>
          <p:nvPr/>
        </p:nvSpPr>
        <p:spPr>
          <a:xfrm>
            <a:off x="731520" y="5669279"/>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760719"/>
            <a:ext cx="4800600" cy="685800"/>
          </a:xfrm>
          <a:prstGeom prst="rect">
            <a:avLst/>
          </a:prstGeom>
          <a:noFill/>
        </p:spPr>
        <p:txBody>
          <a:bodyPr wrap="square">
            <a:spAutoFit/>
          </a:bodyPr>
          <a:lstStyle/>
          <a:p>
            <a:pPr>
              <a:defRPr sz="1200" b="1">
                <a:solidFill>
                  <a:srgbClr val="38BDF8"/>
                </a:solidFill>
              </a:defRPr>
            </a:pPr>
            <a:r>
              <a:t>✓ Documentation Quality</a:t>
            </a:r>
          </a:p>
          <a:p>
            <a:pPr>
              <a:spcBef>
                <a:spcPts val="200"/>
              </a:spcBef>
              <a:defRPr sz="950">
                <a:solidFill>
                  <a:srgbClr val="94A3B8"/>
                </a:solidFill>
              </a:defRPr>
            </a:pPr>
            <a:r>
              <a:t>Comprehensive Final Project Report, User Guide, EBNF Grammar Specification, and API docs.</a:t>
            </a:r>
          </a:p>
        </p:txBody>
      </p:sp>
      <p:sp>
        <p:nvSpPr>
          <p:cNvPr id="25" name="Rounded Rectangle 24"/>
          <p:cNvSpPr/>
          <p:nvPr/>
        </p:nvSpPr>
        <p:spPr>
          <a:xfrm>
            <a:off x="6172200" y="5669279"/>
            <a:ext cx="5166360" cy="8686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5760719"/>
            <a:ext cx="4800600" cy="685800"/>
          </a:xfrm>
          <a:prstGeom prst="rect">
            <a:avLst/>
          </a:prstGeom>
          <a:noFill/>
        </p:spPr>
        <p:txBody>
          <a:bodyPr wrap="square">
            <a:spAutoFit/>
          </a:bodyPr>
          <a:lstStyle/>
          <a:p>
            <a:pPr>
              <a:defRPr sz="1200" b="1">
                <a:solidFill>
                  <a:srgbClr val="F59E0B"/>
                </a:solidFill>
              </a:defRPr>
            </a:pPr>
            <a:r>
              <a:t>✓ Viva Voce Readiness</a:t>
            </a:r>
          </a:p>
          <a:p>
            <a:pPr>
              <a:spcBef>
                <a:spcPts val="200"/>
              </a:spcBef>
              <a:defRPr sz="950">
                <a:solidFill>
                  <a:srgbClr val="94A3B8"/>
                </a:solidFill>
              </a:defRPr>
            </a:pPr>
            <a:r>
              <a:t>Detailed technical analysis of grammar parsing, AST lowering, optimization algebra, and runtime.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SYSTEM ARCHITECTURE</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03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End-to-End 7-Stage Compiler Pipeline &amp; Execution Engine</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Strict unidirectional data flow ensuring stage isolation, testability, and deterministic lowering.</a:t>
            </a:r>
          </a:p>
        </p:txBody>
      </p:sp>
      <p:sp>
        <p:nvSpPr>
          <p:cNvPr id="7" name="Rounded Rectangle 6"/>
          <p:cNvSpPr/>
          <p:nvPr/>
        </p:nvSpPr>
        <p:spPr>
          <a:xfrm>
            <a:off x="731520" y="1828800"/>
            <a:ext cx="1444752" cy="420624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965960"/>
            <a:ext cx="1225296" cy="3931920"/>
          </a:xfrm>
          <a:prstGeom prst="rect">
            <a:avLst/>
          </a:prstGeom>
          <a:noFill/>
        </p:spPr>
        <p:txBody>
          <a:bodyPr wrap="square">
            <a:spAutoFit/>
          </a:bodyPr>
          <a:lstStyle/>
          <a:p>
            <a:pPr>
              <a:defRPr sz="1000" b="1">
                <a:solidFill>
                  <a:srgbClr val="38BDF8"/>
                </a:solidFill>
              </a:defRPr>
            </a:pPr>
            <a:r>
              <a:t>STAGE 1</a:t>
            </a:r>
          </a:p>
          <a:p>
            <a:pPr>
              <a:spcBef>
                <a:spcPts val="400"/>
              </a:spcBef>
              <a:defRPr sz="1300" b="1">
                <a:solidFill>
                  <a:srgbClr val="FFFFFF"/>
                </a:solidFill>
              </a:defRPr>
            </a:pPr>
            <a:r>
              <a:t>Lexical Analysis</a:t>
            </a:r>
          </a:p>
          <a:p>
            <a:pPr>
              <a:spcBef>
                <a:spcPts val="800"/>
              </a:spcBef>
              <a:defRPr sz="1050">
                <a:solidFill>
                  <a:srgbClr val="00F2FE"/>
                </a:solidFill>
              </a:defRPr>
            </a:pPr>
            <a:r>
              <a:t>Maximal-munch scanner</a:t>
            </a:r>
          </a:p>
          <a:p>
            <a:pPr>
              <a:spcBef>
                <a:spcPts val="1200"/>
              </a:spcBef>
              <a:defRPr sz="950">
                <a:solidFill>
                  <a:srgbClr val="94A3B8"/>
                </a:solidFill>
              </a:defRPr>
            </a:pPr>
            <a:r>
              <a:t>Regular grammars, tokens, position tracking</a:t>
            </a:r>
          </a:p>
        </p:txBody>
      </p:sp>
      <p:sp>
        <p:nvSpPr>
          <p:cNvPr id="9" name="Rounded Rectangle 8"/>
          <p:cNvSpPr/>
          <p:nvPr/>
        </p:nvSpPr>
        <p:spPr>
          <a:xfrm>
            <a:off x="2267712" y="1828800"/>
            <a:ext cx="1444752" cy="420624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965960"/>
            <a:ext cx="1225296" cy="3931920"/>
          </a:xfrm>
          <a:prstGeom prst="rect">
            <a:avLst/>
          </a:prstGeom>
          <a:noFill/>
        </p:spPr>
        <p:txBody>
          <a:bodyPr wrap="square">
            <a:spAutoFit/>
          </a:bodyPr>
          <a:lstStyle/>
          <a:p>
            <a:pPr>
              <a:defRPr sz="1000" b="1">
                <a:solidFill>
                  <a:srgbClr val="38BDF8"/>
                </a:solidFill>
              </a:defRPr>
            </a:pPr>
            <a:r>
              <a:t>STAGE 2</a:t>
            </a:r>
          </a:p>
          <a:p>
            <a:pPr>
              <a:spcBef>
                <a:spcPts val="400"/>
              </a:spcBef>
              <a:defRPr sz="1300" b="1">
                <a:solidFill>
                  <a:srgbClr val="FFFFFF"/>
                </a:solidFill>
              </a:defRPr>
            </a:pPr>
            <a:r>
              <a:t>Syntax Analysis</a:t>
            </a:r>
          </a:p>
          <a:p>
            <a:pPr>
              <a:spcBef>
                <a:spcPts val="800"/>
              </a:spcBef>
              <a:defRPr sz="1050">
                <a:solidFill>
                  <a:srgbClr val="00F2FE"/>
                </a:solidFill>
              </a:defRPr>
            </a:pPr>
            <a:r>
              <a:t>Recursive-descent LL(1)</a:t>
            </a:r>
          </a:p>
          <a:p>
            <a:pPr>
              <a:spcBef>
                <a:spcPts val="1200"/>
              </a:spcBef>
              <a:defRPr sz="950">
                <a:solidFill>
                  <a:srgbClr val="94A3B8"/>
                </a:solidFill>
              </a:defRPr>
            </a:pPr>
            <a:r>
              <a:t>Grammar rules, AST hierarchy, error recovery</a:t>
            </a:r>
          </a:p>
        </p:txBody>
      </p:sp>
      <p:sp>
        <p:nvSpPr>
          <p:cNvPr id="11" name="Rounded Rectangle 10"/>
          <p:cNvSpPr/>
          <p:nvPr/>
        </p:nvSpPr>
        <p:spPr>
          <a:xfrm>
            <a:off x="3803904" y="1828800"/>
            <a:ext cx="1444752" cy="420624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13632" y="1965960"/>
            <a:ext cx="1225296" cy="3931920"/>
          </a:xfrm>
          <a:prstGeom prst="rect">
            <a:avLst/>
          </a:prstGeom>
          <a:noFill/>
        </p:spPr>
        <p:txBody>
          <a:bodyPr wrap="square">
            <a:spAutoFit/>
          </a:bodyPr>
          <a:lstStyle/>
          <a:p>
            <a:pPr>
              <a:defRPr sz="1000" b="1">
                <a:solidFill>
                  <a:srgbClr val="38BDF8"/>
                </a:solidFill>
              </a:defRPr>
            </a:pPr>
            <a:r>
              <a:t>STAGE 3</a:t>
            </a:r>
          </a:p>
          <a:p>
            <a:pPr>
              <a:spcBef>
                <a:spcPts val="400"/>
              </a:spcBef>
              <a:defRPr sz="1300" b="1">
                <a:solidFill>
                  <a:srgbClr val="FFFFFF"/>
                </a:solidFill>
              </a:defRPr>
            </a:pPr>
            <a:r>
              <a:t>Symbol Table</a:t>
            </a:r>
          </a:p>
          <a:p>
            <a:pPr>
              <a:spcBef>
                <a:spcPts val="800"/>
              </a:spcBef>
              <a:defRPr sz="1050">
                <a:solidFill>
                  <a:srgbClr val="00F2FE"/>
                </a:solidFill>
              </a:defRPr>
            </a:pPr>
            <a:r>
              <a:t>Scoped symbol resolution</a:t>
            </a:r>
          </a:p>
          <a:p>
            <a:pPr>
              <a:spcBef>
                <a:spcPts val="1200"/>
              </a:spcBef>
              <a:defRPr sz="950">
                <a:solidFill>
                  <a:srgbClr val="94A3B8"/>
                </a:solidFill>
              </a:defRPr>
            </a:pPr>
            <a:r>
              <a:t>Hierarchical scopes, type metadata, builtins</a:t>
            </a:r>
          </a:p>
        </p:txBody>
      </p:sp>
      <p:sp>
        <p:nvSpPr>
          <p:cNvPr id="13" name="Rounded Rectangle 12"/>
          <p:cNvSpPr/>
          <p:nvPr/>
        </p:nvSpPr>
        <p:spPr>
          <a:xfrm>
            <a:off x="5340096" y="1828800"/>
            <a:ext cx="1444752" cy="420624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9824" y="1965960"/>
            <a:ext cx="1225296" cy="3931920"/>
          </a:xfrm>
          <a:prstGeom prst="rect">
            <a:avLst/>
          </a:prstGeom>
          <a:noFill/>
        </p:spPr>
        <p:txBody>
          <a:bodyPr wrap="square">
            <a:spAutoFit/>
          </a:bodyPr>
          <a:lstStyle/>
          <a:p>
            <a:pPr>
              <a:defRPr sz="1000" b="1">
                <a:solidFill>
                  <a:srgbClr val="38BDF8"/>
                </a:solidFill>
              </a:defRPr>
            </a:pPr>
            <a:r>
              <a:t>STAGE 4</a:t>
            </a:r>
          </a:p>
          <a:p>
            <a:pPr>
              <a:spcBef>
                <a:spcPts val="400"/>
              </a:spcBef>
              <a:defRPr sz="1300" b="1">
                <a:solidFill>
                  <a:srgbClr val="FFFFFF"/>
                </a:solidFill>
              </a:defRPr>
            </a:pPr>
            <a:r>
              <a:t>Semantic Analysis</a:t>
            </a:r>
          </a:p>
          <a:p>
            <a:pPr>
              <a:spcBef>
                <a:spcPts val="800"/>
              </a:spcBef>
              <a:defRPr sz="1050">
                <a:solidFill>
                  <a:srgbClr val="00F2FE"/>
                </a:solidFill>
              </a:defRPr>
            </a:pPr>
            <a:r>
              <a:t>Type &amp; domain checking</a:t>
            </a:r>
          </a:p>
          <a:p>
            <a:pPr>
              <a:spcBef>
                <a:spcPts val="1200"/>
              </a:spcBef>
              <a:defRPr sz="950">
                <a:solidFill>
                  <a:srgbClr val="94A3B8"/>
                </a:solidFill>
              </a:defRPr>
            </a:pPr>
            <a:r>
              <a:t>Static division-by-zero, arity, domain rules</a:t>
            </a:r>
          </a:p>
        </p:txBody>
      </p:sp>
      <p:sp>
        <p:nvSpPr>
          <p:cNvPr id="15" name="Rounded Rectangle 14"/>
          <p:cNvSpPr/>
          <p:nvPr/>
        </p:nvSpPr>
        <p:spPr>
          <a:xfrm>
            <a:off x="6876288" y="1828800"/>
            <a:ext cx="1444752" cy="4206240"/>
          </a:xfrm>
          <a:prstGeom prst="roundRect">
            <a:avLst/>
          </a:prstGeom>
          <a:solidFill>
            <a:srgbClr val="161B22"/>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86016" y="1965960"/>
            <a:ext cx="1225296" cy="3931920"/>
          </a:xfrm>
          <a:prstGeom prst="rect">
            <a:avLst/>
          </a:prstGeom>
          <a:noFill/>
        </p:spPr>
        <p:txBody>
          <a:bodyPr wrap="square">
            <a:spAutoFit/>
          </a:bodyPr>
          <a:lstStyle/>
          <a:p>
            <a:pPr>
              <a:defRPr sz="1000" b="1">
                <a:solidFill>
                  <a:srgbClr val="38BDF8"/>
                </a:solidFill>
              </a:defRPr>
            </a:pPr>
            <a:r>
              <a:t>STAGE 5</a:t>
            </a:r>
          </a:p>
          <a:p>
            <a:pPr>
              <a:spcBef>
                <a:spcPts val="400"/>
              </a:spcBef>
              <a:defRPr sz="1300" b="1">
                <a:solidFill>
                  <a:srgbClr val="FFFFFF"/>
                </a:solidFill>
              </a:defRPr>
            </a:pPr>
            <a:r>
              <a:t>Intermediate Code</a:t>
            </a:r>
          </a:p>
          <a:p>
            <a:pPr>
              <a:spcBef>
                <a:spcPts val="800"/>
              </a:spcBef>
              <a:defRPr sz="1050">
                <a:solidFill>
                  <a:srgbClr val="00F2FE"/>
                </a:solidFill>
              </a:defRPr>
            </a:pPr>
            <a:r>
              <a:t>Three-Address Code (TAC)</a:t>
            </a:r>
          </a:p>
          <a:p>
            <a:pPr>
              <a:spcBef>
                <a:spcPts val="1200"/>
              </a:spcBef>
              <a:defRPr sz="950">
                <a:solidFill>
                  <a:srgbClr val="94A3B8"/>
                </a:solidFill>
              </a:defRPr>
            </a:pPr>
            <a:r>
              <a:t>Quadruples, synthetic temporaries, jump labels</a:t>
            </a:r>
          </a:p>
        </p:txBody>
      </p:sp>
      <p:sp>
        <p:nvSpPr>
          <p:cNvPr id="17" name="Rounded Rectangle 16"/>
          <p:cNvSpPr/>
          <p:nvPr/>
        </p:nvSpPr>
        <p:spPr>
          <a:xfrm>
            <a:off x="8412480" y="1828800"/>
            <a:ext cx="1444752" cy="4206240"/>
          </a:xfrm>
          <a:prstGeom prst="roundRect">
            <a:avLst/>
          </a:prstGeom>
          <a:solidFill>
            <a:srgbClr val="161B22"/>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22208" y="1965960"/>
            <a:ext cx="1225296" cy="3931920"/>
          </a:xfrm>
          <a:prstGeom prst="rect">
            <a:avLst/>
          </a:prstGeom>
          <a:noFill/>
        </p:spPr>
        <p:txBody>
          <a:bodyPr wrap="square">
            <a:spAutoFit/>
          </a:bodyPr>
          <a:lstStyle/>
          <a:p>
            <a:pPr>
              <a:defRPr sz="1000" b="1">
                <a:solidFill>
                  <a:srgbClr val="38BDF8"/>
                </a:solidFill>
              </a:defRPr>
            </a:pPr>
            <a:r>
              <a:t>STAGE 6</a:t>
            </a:r>
          </a:p>
          <a:p>
            <a:pPr>
              <a:spcBef>
                <a:spcPts val="400"/>
              </a:spcBef>
              <a:defRPr sz="1300" b="1">
                <a:solidFill>
                  <a:srgbClr val="FFFFFF"/>
                </a:solidFill>
              </a:defRPr>
            </a:pPr>
            <a:r>
              <a:t>Code Optimizer</a:t>
            </a:r>
          </a:p>
          <a:p>
            <a:pPr>
              <a:spcBef>
                <a:spcPts val="800"/>
              </a:spcBef>
              <a:defRPr sz="1050">
                <a:solidFill>
                  <a:srgbClr val="00F2FE"/>
                </a:solidFill>
              </a:defRPr>
            </a:pPr>
            <a:r>
              <a:t>CF, Propagation, CSE, DCE</a:t>
            </a:r>
          </a:p>
          <a:p>
            <a:pPr>
              <a:spcBef>
                <a:spcPts val="1200"/>
              </a:spcBef>
              <a:defRPr sz="950">
                <a:solidFill>
                  <a:srgbClr val="94A3B8"/>
                </a:solidFill>
              </a:defRPr>
            </a:pPr>
            <a:r>
              <a:t>Algebraic folding, value numbering, jump pruning</a:t>
            </a:r>
          </a:p>
        </p:txBody>
      </p:sp>
      <p:sp>
        <p:nvSpPr>
          <p:cNvPr id="19" name="Rounded Rectangle 18"/>
          <p:cNvSpPr/>
          <p:nvPr/>
        </p:nvSpPr>
        <p:spPr>
          <a:xfrm>
            <a:off x="9948672" y="1828800"/>
            <a:ext cx="1444752" cy="4206240"/>
          </a:xfrm>
          <a:prstGeom prst="roundRect">
            <a:avLst/>
          </a:prstGeom>
          <a:solidFill>
            <a:srgbClr val="161B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1965960"/>
            <a:ext cx="1225296" cy="3931920"/>
          </a:xfrm>
          <a:prstGeom prst="rect">
            <a:avLst/>
          </a:prstGeom>
          <a:noFill/>
        </p:spPr>
        <p:txBody>
          <a:bodyPr wrap="square">
            <a:spAutoFit/>
          </a:bodyPr>
          <a:lstStyle/>
          <a:p>
            <a:pPr>
              <a:defRPr sz="1000" b="1">
                <a:solidFill>
                  <a:srgbClr val="38BDF8"/>
                </a:solidFill>
              </a:defRPr>
            </a:pPr>
            <a:r>
              <a:t>STAGE 7</a:t>
            </a:r>
          </a:p>
          <a:p>
            <a:pPr>
              <a:spcBef>
                <a:spcPts val="400"/>
              </a:spcBef>
              <a:defRPr sz="1300" b="1">
                <a:solidFill>
                  <a:srgbClr val="FFFFFF"/>
                </a:solidFill>
              </a:defRPr>
            </a:pPr>
            <a:r>
              <a:t>Execution Engine</a:t>
            </a:r>
          </a:p>
          <a:p>
            <a:pPr>
              <a:spcBef>
                <a:spcPts val="800"/>
              </a:spcBef>
              <a:defRPr sz="1050">
                <a:solidFill>
                  <a:srgbClr val="00F2FE"/>
                </a:solidFill>
              </a:defRPr>
            </a:pPr>
            <a:r>
              <a:t>Vector backtest runtime</a:t>
            </a:r>
          </a:p>
          <a:p>
            <a:pPr>
              <a:spcBef>
                <a:spcPts val="1200"/>
              </a:spcBef>
              <a:defRPr sz="950">
                <a:solidFill>
                  <a:srgbClr val="94A3B8"/>
                </a:solidFill>
              </a:defRPr>
            </a:pPr>
            <a:r>
              <a:t>Portfolio state machine, Sharpe, Drawdown, PnL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LANGUAGE SPECIFICATION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04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Formal EBNF Grammar &amp; Concrete Language Constructs</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Deterministic context-free grammar designed for LL(1) parsing without backtracking or ambiguities.</a:t>
            </a:r>
          </a:p>
        </p:txBody>
      </p:sp>
      <p:sp>
        <p:nvSpPr>
          <p:cNvPr id="7" name="Rounded Rectangle 6"/>
          <p:cNvSpPr/>
          <p:nvPr/>
        </p:nvSpPr>
        <p:spPr>
          <a:xfrm>
            <a:off x="731520" y="1645920"/>
            <a:ext cx="512064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79" cy="4206240"/>
          </a:xfrm>
          <a:prstGeom prst="rect">
            <a:avLst/>
          </a:prstGeom>
          <a:noFill/>
        </p:spPr>
        <p:txBody>
          <a:bodyPr wrap="square">
            <a:spAutoFit/>
          </a:bodyPr>
          <a:lstStyle/>
          <a:p>
            <a:pPr>
              <a:defRPr sz="1300" b="1">
                <a:solidFill>
                  <a:srgbClr val="38BDF8"/>
                </a:solidFill>
              </a:defRPr>
            </a:pPr>
            <a:r>
              <a:t>Formal EBNF Specification (GRAMMAR.md)</a:t>
            </a:r>
          </a:p>
          <a:p>
            <a:pPr>
              <a:spcBef>
                <a:spcPts val="600"/>
              </a:spcBef>
              <a:defRPr sz="950">
                <a:solidFill>
                  <a:srgbClr val="F0F6FC"/>
                </a:solidFill>
              </a:defRPr>
            </a:pPr>
            <a:r>
              <a:t>program        := strategy+</a:t>
            </a:r>
            <a:br/>
            <a:r>
              <a:t>strategy       := 'STRATEGY' STRING '{' ind_decl* rule_block+ '}'</a:t>
            </a:r>
            <a:br/>
            <a:r>
              <a:t>ind_decl       := 'INDICATOR' IDENT '=' func_call</a:t>
            </a:r>
            <a:br/>
            <a:r>
              <a:t>func_call      := IDENT '(' arg (',' arg)* ')'</a:t>
            </a:r>
            <a:br/>
            <a:r>
              <a:t>rule_block     := rule_kind ':' action 'IF' condition</a:t>
            </a:r>
            <a:br/>
            <a:r>
              <a:t>rule_kind      := 'ENTRY' | 'EXIT' | 'STOP_LOSS' | 'TAKE_PROFIT'</a:t>
            </a:r>
            <a:br/>
            <a:r>
              <a:t>action         := ('BUY'|'SELL'|'SHORT') qty_spec? STRING</a:t>
            </a:r>
            <a:br/>
            <a:r>
              <a:t>                | 'SELL' 'ALL'</a:t>
            </a:r>
            <a:br/>
            <a:r>
              <a:t>qty_spec       := NUMBER 'SHARES' 'OF'</a:t>
            </a:r>
            <a:br/>
            <a:r>
              <a:t>condition      := or_expr</a:t>
            </a:r>
            <a:br/>
            <a:r>
              <a:t>or_expr        := and_expr ('OR' and_expr)*</a:t>
            </a:r>
            <a:br/>
            <a:r>
              <a:t>and_expr       := cmp_expr ('AND' cmp_expr)*</a:t>
            </a:r>
            <a:br/>
            <a:r>
              <a:t>cmp_expr       := expr ('&gt;'|'&lt;'|'&gt;='|'&lt;='|'==') expr</a:t>
            </a:r>
            <a:br/>
            <a:r>
              <a:t>expr           := term (('+' | '-') term)*</a:t>
            </a:r>
            <a:br/>
            <a:r>
              <a:t>term           := factor (('*' | '/') factor)*</a:t>
            </a:r>
            <a:br/>
            <a:r>
              <a:t>factor         := IDENT | NUMBER | '(' condition ')'</a:t>
            </a:r>
          </a:p>
        </p:txBody>
      </p:sp>
      <p:sp>
        <p:nvSpPr>
          <p:cNvPr id="9" name="Rounded Rectangle 8"/>
          <p:cNvSpPr/>
          <p:nvPr/>
        </p:nvSpPr>
        <p:spPr>
          <a:xfrm>
            <a:off x="6126480" y="1645920"/>
            <a:ext cx="5394960" cy="45720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28800"/>
            <a:ext cx="5029200" cy="4206240"/>
          </a:xfrm>
          <a:prstGeom prst="rect">
            <a:avLst/>
          </a:prstGeom>
          <a:noFill/>
        </p:spPr>
        <p:txBody>
          <a:bodyPr wrap="square">
            <a:spAutoFit/>
          </a:bodyPr>
          <a:lstStyle/>
          <a:p>
            <a:pPr>
              <a:defRPr sz="1300" b="1">
                <a:solidFill>
                  <a:srgbClr val="00F2FE"/>
                </a:solidFill>
              </a:defRPr>
            </a:pPr>
            <a:r>
              <a:t>Concrete SwayaLang DSL Snippet</a:t>
            </a:r>
          </a:p>
          <a:p>
            <a:pPr>
              <a:spcBef>
                <a:spcPts val="800"/>
              </a:spcBef>
              <a:defRPr sz="1050">
                <a:solidFill>
                  <a:srgbClr val="FFFFFF"/>
                </a:solidFill>
              </a:defRPr>
            </a:pPr>
            <a:r>
              <a:t>STRATEGY "GoldenCross" {</a:t>
            </a:r>
            <a:br/>
            <a:r>
              <a:t>    INDICATOR sma_50  = SMA(CLOSE, 50)</a:t>
            </a:r>
            <a:br/>
            <a:r>
              <a:t>    INDICATOR sma_200 = SMA(CLOSE, 200)</a:t>
            </a:r>
            <a:br/>
            <a:r>
              <a:t>    INDICATOR rsi_14  = RSI(CLOSE, 14)</a:t>
            </a:r>
            <a:br/>
            <a:br/>
            <a:r>
              <a:t>    ENTRY:     BUY 100 SHARES OF "AAPL"</a:t>
            </a:r>
            <a:br/>
            <a:r>
              <a:t>               IF sma_50 &gt; sma_200 AND rsi_14 &lt; 30</a:t>
            </a:r>
            <a:br/>
            <a:br/>
            <a:r>
              <a:t>    EXIT:      SELL ALL</a:t>
            </a:r>
            <a:br/>
            <a:r>
              <a:t>               IF sma_50 &lt; sma_200</a:t>
            </a:r>
            <a:br/>
            <a:br/>
            <a:r>
              <a:t>    STOP_LOSS: SELL ALL</a:t>
            </a:r>
            <a:br/>
            <a:r>
              <a:t>               IF PRICE &lt; ENTRY_PRICE * 0.95</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FRONT-END IMPLEMENTATION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05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Scanner (Lexer), Recursive-Descent Parser &amp; Immutable AST</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1 foundation: maximal-munch tokenization and LL(1) recursive AST construction with line/col tracking.</a:t>
            </a:r>
          </a:p>
        </p:txBody>
      </p:sp>
      <p:sp>
        <p:nvSpPr>
          <p:cNvPr id="7" name="Rounded Rectangle 6"/>
          <p:cNvSpPr/>
          <p:nvPr/>
        </p:nvSpPr>
        <p:spPr>
          <a:xfrm>
            <a:off x="731520" y="1645920"/>
            <a:ext cx="502920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663440" cy="4206240"/>
          </a:xfrm>
          <a:prstGeom prst="rect">
            <a:avLst/>
          </a:prstGeom>
          <a:noFill/>
        </p:spPr>
        <p:txBody>
          <a:bodyPr wrap="square">
            <a:spAutoFit/>
          </a:bodyPr>
          <a:lstStyle/>
          <a:p>
            <a:pPr>
              <a:defRPr sz="1400" b="1">
                <a:solidFill>
                  <a:srgbClr val="38BDF8"/>
                </a:solidFill>
              </a:defRPr>
            </a:pPr>
            <a:r>
              <a:t>Front-End Compiler Highlights</a:t>
            </a:r>
          </a:p>
          <a:p>
            <a:pPr>
              <a:spcBef>
                <a:spcPts val="600"/>
              </a:spcBef>
              <a:defRPr sz="1000">
                <a:solidFill>
                  <a:srgbClr val="94A3B8"/>
                </a:solidFill>
              </a:defRPr>
            </a:pPr>
            <a:r>
              <a:t>• Hand-written Maximal-Munch Scanner: Identifies multi-char operators (&gt;=, &lt;=, ==) and differentiates keywords from user identifiers.</a:t>
            </a:r>
          </a:p>
          <a:p>
            <a:pPr>
              <a:spcBef>
                <a:spcPts val="600"/>
              </a:spcBef>
              <a:defRPr sz="1000">
                <a:solidFill>
                  <a:srgbClr val="94A3B8"/>
                </a:solidFill>
              </a:defRPr>
            </a:pPr>
            <a:r>
              <a:t>• Exact Coordinate Tracking: Every Token carries (line, col) enabling IDE error highlighting with caret pointers.</a:t>
            </a:r>
          </a:p>
          <a:p>
            <a:pPr>
              <a:spcBef>
                <a:spcPts val="600"/>
              </a:spcBef>
              <a:defRPr sz="1000">
                <a:solidFill>
                  <a:srgbClr val="94A3B8"/>
                </a:solidFill>
              </a:defRPr>
            </a:pPr>
            <a:r>
              <a:t>• Deterministic LL(1) Recursive Descent: Precedence climbing for arithmetic (*, / over +, -) and boolean (AND over OR).</a:t>
            </a:r>
          </a:p>
          <a:p>
            <a:pPr>
              <a:spcBef>
                <a:spcPts val="600"/>
              </a:spcBef>
              <a:defRPr sz="1000">
                <a:solidFill>
                  <a:srgbClr val="94A3B8"/>
                </a:solidFill>
              </a:defRPr>
            </a:pPr>
            <a:r>
              <a:t>• Immutable Frozen AST Hierarchy: All nodes are Python frozen dataclasses preventing unintended mutation across passes.</a:t>
            </a:r>
          </a:p>
          <a:p>
            <a:pPr>
              <a:spcBef>
                <a:spcPts val="600"/>
              </a:spcBef>
              <a:defRPr sz="1000">
                <a:solidFill>
                  <a:srgbClr val="94A3B8"/>
                </a:solidFill>
              </a:defRPr>
            </a:pPr>
            <a:r>
              <a:t>• Human-Readable AST Pretty Printer: Indented 2-space hierarchical tree output for auditing AST structures.</a:t>
            </a:r>
          </a:p>
        </p:txBody>
      </p:sp>
      <p:pic>
        <p:nvPicPr>
          <p:cNvPr id="9" name="Picture 8" descr="screenshot_step1_2_ast.png"/>
          <p:cNvPicPr>
            <a:picLocks noChangeAspect="1"/>
          </p:cNvPicPr>
          <p:nvPr/>
        </p:nvPicPr>
        <p:blipFill>
          <a:blip r:embed="rId2"/>
          <a:stretch>
            <a:fillRect/>
          </a:stretch>
        </p:blipFill>
        <p:spPr>
          <a:xfrm>
            <a:off x="7649969" y="1645920"/>
            <a:ext cx="216510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SYMBOL TABLE MANAGEMENT</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06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Hierarchical Scoped Symbol Table &amp; Lexical Isolation</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2 deliverable: global built-ins and per-strategy child scopes preventing cross-strategy variable leakage.</a:t>
            </a:r>
          </a:p>
        </p:txBody>
      </p:sp>
      <p:pic>
        <p:nvPicPr>
          <p:cNvPr id="7" name="Picture 6" descr="screenshot_step3_symbol_table.png"/>
          <p:cNvPicPr>
            <a:picLocks noChangeAspect="1"/>
          </p:cNvPicPr>
          <p:nvPr/>
        </p:nvPicPr>
        <p:blipFill>
          <a:blip r:embed="rId2"/>
          <a:stretch>
            <a:fillRect/>
          </a:stretch>
        </p:blipFill>
        <p:spPr>
          <a:xfrm>
            <a:off x="731520" y="1902043"/>
            <a:ext cx="5486400" cy="4059752"/>
          </a:xfrm>
          <a:prstGeom prst="rect">
            <a:avLst/>
          </a:prstGeom>
        </p:spPr>
      </p:pic>
      <p:sp>
        <p:nvSpPr>
          <p:cNvPr id="8" name="Rounded Rectangle 7"/>
          <p:cNvSpPr/>
          <p:nvPr/>
        </p:nvSpPr>
        <p:spPr>
          <a:xfrm>
            <a:off x="6492240" y="1645920"/>
            <a:ext cx="4937760" cy="45720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828800"/>
            <a:ext cx="4572000" cy="4206240"/>
          </a:xfrm>
          <a:prstGeom prst="rect">
            <a:avLst/>
          </a:prstGeom>
          <a:noFill/>
        </p:spPr>
        <p:txBody>
          <a:bodyPr wrap="square">
            <a:spAutoFit/>
          </a:bodyPr>
          <a:lstStyle/>
          <a:p>
            <a:pPr>
              <a:defRPr sz="1400" b="1">
                <a:solidFill>
                  <a:srgbClr val="00F2FE"/>
                </a:solidFill>
              </a:defRPr>
            </a:pPr>
            <a:r>
              <a:t>Scoped Symbol Table Architecture</a:t>
            </a:r>
          </a:p>
          <a:p>
            <a:pPr>
              <a:spcBef>
                <a:spcPts val="600"/>
              </a:spcBef>
              <a:defRPr sz="1000">
                <a:solidFill>
                  <a:srgbClr val="94A3B8"/>
                </a:solidFill>
              </a:defRPr>
            </a:pPr>
            <a:r>
              <a:t>▸ Two-Tier Hierarchical Scopes: Global scope registers built-in indicator signatures (SMA, EMA, RSI) and price fields (CLOSE, OPEN, HIGH, LOW, VOLUME, PRICE, ENTRY_PRICE).</a:t>
            </a:r>
          </a:p>
          <a:p>
            <a:pPr>
              <a:spcBef>
                <a:spcPts val="600"/>
              </a:spcBef>
              <a:defRPr sz="1000">
                <a:solidFill>
                  <a:srgbClr val="94A3B8"/>
                </a:solidFill>
              </a:defRPr>
            </a:pPr>
            <a:r>
              <a:t>▸ Lexical Scope Isolation: Child scopes represent individual strategies. Variables defined in 'GoldenCross' are strictly inaccessible to 'Momentum'.</a:t>
            </a:r>
          </a:p>
          <a:p>
            <a:pPr>
              <a:spcBef>
                <a:spcPts val="600"/>
              </a:spcBef>
              <a:defRPr sz="1000">
                <a:solidFill>
                  <a:srgbClr val="94A3B8"/>
                </a:solidFill>
              </a:defRPr>
            </a:pPr>
            <a:r>
              <a:t>▸ Rich Symbol Metadata: Each Symbol record tracks symbol name, SymbolKind (INDICATOR, PRICE_FIELD, BUILTIN_FUNC), DataType (SERIES, INT, FLOAT), and declaration signature.</a:t>
            </a:r>
          </a:p>
          <a:p>
            <a:pPr>
              <a:spcBef>
                <a:spcPts val="600"/>
              </a:spcBef>
              <a:defRPr sz="1000">
                <a:solidFill>
                  <a:srgbClr val="94A3B8"/>
                </a:solidFill>
              </a:defRPr>
            </a:pPr>
            <a:r>
              <a:t>▸ Shadowing Prevention: Declaring indicators matching built-in keywords or price fields immediately raises a fatal compiler SemanticError.</a:t>
            </a:r>
          </a:p>
          <a:p>
            <a:pPr>
              <a:spcBef>
                <a:spcPts val="600"/>
              </a:spcBef>
              <a:defRPr sz="1000">
                <a:solidFill>
                  <a:srgbClr val="94A3B8"/>
                </a:solidFill>
              </a:defRPr>
            </a:pPr>
            <a:r>
              <a:t>▸ Clean Scope Formatting: ASCII tabular rendering for compiler introspection and IDE symbol inspector.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SEMANTIC VALIDATION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07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Semantic Analyzer, Type System &amp; 4 Static Safety Traps</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2 deliverable: compile-time enforcement of type invariants, indicator signatures, and domain logic.</a:t>
            </a:r>
          </a:p>
        </p:txBody>
      </p:sp>
      <p:pic>
        <p:nvPicPr>
          <p:cNvPr id="7" name="Picture 6" descr="screenshot_step4_negative_testing.png"/>
          <p:cNvPicPr>
            <a:picLocks noChangeAspect="1"/>
          </p:cNvPicPr>
          <p:nvPr/>
        </p:nvPicPr>
        <p:blipFill>
          <a:blip r:embed="rId2"/>
          <a:stretch>
            <a:fillRect/>
          </a:stretch>
        </p:blipFill>
        <p:spPr>
          <a:xfrm>
            <a:off x="731520" y="3012534"/>
            <a:ext cx="5669280" cy="1838771"/>
          </a:xfrm>
          <a:prstGeom prst="rect">
            <a:avLst/>
          </a:prstGeom>
        </p:spPr>
      </p:pic>
      <p:sp>
        <p:nvSpPr>
          <p:cNvPr id="8" name="Rounded Rectangle 7"/>
          <p:cNvSpPr/>
          <p:nvPr/>
        </p:nvSpPr>
        <p:spPr>
          <a:xfrm>
            <a:off x="6675120" y="1645920"/>
            <a:ext cx="475488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828800"/>
            <a:ext cx="4389120" cy="4206240"/>
          </a:xfrm>
          <a:prstGeom prst="rect">
            <a:avLst/>
          </a:prstGeom>
          <a:noFill/>
        </p:spPr>
        <p:txBody>
          <a:bodyPr wrap="square">
            <a:spAutoFit/>
          </a:bodyPr>
          <a:lstStyle/>
          <a:p>
            <a:pPr>
              <a:defRPr sz="1350" b="1">
                <a:solidFill>
                  <a:srgbClr val="F59E0B"/>
                </a:solidFill>
              </a:defRPr>
            </a:pPr>
            <a:r>
              <a:t>Four Core Static Semantic Safety Traps</a:t>
            </a:r>
          </a:p>
          <a:p>
            <a:pPr>
              <a:spcBef>
                <a:spcPts val="500"/>
              </a:spcBef>
              <a:defRPr sz="980">
                <a:solidFill>
                  <a:srgbClr val="94A3B8"/>
                </a:solidFill>
              </a:defRPr>
            </a:pPr>
            <a:r>
              <a:t>• Trap 1: Undeclared Identifiers: Catches misspelled indicator names or unassigned variables in condition expressions before execution.</a:t>
            </a:r>
          </a:p>
          <a:p>
            <a:pPr>
              <a:spcBef>
                <a:spcPts val="500"/>
              </a:spcBef>
              <a:defRPr sz="980">
                <a:solidFill>
                  <a:srgbClr val="94A3B8"/>
                </a:solidFill>
              </a:defRPr>
            </a:pPr>
            <a:r>
              <a:t>• Trap 2: Static Division by Zero: Traps zero denominators in constant arithmetic expressions at compile-time (e.g. CLOSE &gt; 100 / 0).</a:t>
            </a:r>
          </a:p>
          <a:p>
            <a:pPr>
              <a:spcBef>
                <a:spcPts val="500"/>
              </a:spcBef>
              <a:defRPr sz="980">
                <a:solidFill>
                  <a:srgbClr val="94A3B8"/>
                </a:solidFill>
              </a:defRPr>
            </a:pPr>
            <a:r>
              <a:t>• Trap 3: Indicator Arity &amp; Period Validation: Enforces that periods are strictly positive integers (period &gt; 0) and matches function parameter counts.</a:t>
            </a:r>
          </a:p>
          <a:p>
            <a:pPr>
              <a:spcBef>
                <a:spcPts val="500"/>
              </a:spcBef>
              <a:defRPr sz="980">
                <a:solidFill>
                  <a:srgbClr val="94A3B8"/>
                </a:solidFill>
              </a:defRPr>
            </a:pPr>
            <a:r>
              <a:t>• Trap 4: Domain Logic Invariant: Prohibits ENTRY_PRICE references in ENTRY rules since no trade position exists prior to entry.</a:t>
            </a:r>
          </a:p>
          <a:p>
            <a:pPr>
              <a:spcBef>
                <a:spcPts val="500"/>
              </a:spcBef>
              <a:defRPr sz="980">
                <a:solidFill>
                  <a:srgbClr val="94A3B8"/>
                </a:solidFill>
              </a:defRPr>
            </a:pPr>
            <a:r>
              <a:t>• Warning System: Dead Indicators: Issues non-fatal warnings for indicators declared but never referenced in any rule.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INTERMEDIATE CODE GENERATION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08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Linearized Three-Address Code (TAC) Quadruples</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2 deliverable: lowering hierarchical AST into machine-independent linear quadruples (op, arg1, arg2, result).</a:t>
            </a:r>
          </a:p>
        </p:txBody>
      </p:sp>
      <p:pic>
        <p:nvPicPr>
          <p:cNvPr id="7" name="Picture 6" descr="screenshot_step5_ir_tac.png"/>
          <p:cNvPicPr>
            <a:picLocks noChangeAspect="1"/>
          </p:cNvPicPr>
          <p:nvPr/>
        </p:nvPicPr>
        <p:blipFill>
          <a:blip r:embed="rId2"/>
          <a:stretch>
            <a:fillRect/>
          </a:stretch>
        </p:blipFill>
        <p:spPr>
          <a:xfrm>
            <a:off x="1555977" y="1645920"/>
            <a:ext cx="3654604" cy="4572000"/>
          </a:xfrm>
          <a:prstGeom prst="rect">
            <a:avLst/>
          </a:prstGeom>
        </p:spPr>
      </p:pic>
      <p:sp>
        <p:nvSpPr>
          <p:cNvPr id="8" name="Rounded Rectangle 7"/>
          <p:cNvSpPr/>
          <p:nvPr/>
        </p:nvSpPr>
        <p:spPr>
          <a:xfrm>
            <a:off x="6309360" y="1645920"/>
            <a:ext cx="5120640" cy="45720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754880" cy="4206240"/>
          </a:xfrm>
          <a:prstGeom prst="rect">
            <a:avLst/>
          </a:prstGeom>
          <a:noFill/>
        </p:spPr>
        <p:txBody>
          <a:bodyPr wrap="square">
            <a:spAutoFit/>
          </a:bodyPr>
          <a:lstStyle/>
          <a:p>
            <a:pPr>
              <a:defRPr sz="1400" b="1">
                <a:solidFill>
                  <a:srgbClr val="00F2FE"/>
                </a:solidFill>
              </a:defRPr>
            </a:pPr>
            <a:r>
              <a:t>Three-Address Code (TAC) Lowering Strategy</a:t>
            </a:r>
          </a:p>
          <a:p>
            <a:pPr>
              <a:spcBef>
                <a:spcPts val="600"/>
              </a:spcBef>
              <a:defRPr sz="1000">
                <a:solidFill>
                  <a:srgbClr val="94A3B8"/>
                </a:solidFill>
              </a:defRPr>
            </a:pPr>
            <a:r>
              <a:t>▸ Quadruple Architecture: Standard (op, arg1, arg2, result) record format enabling straightforward optimization passes.</a:t>
            </a:r>
          </a:p>
          <a:p>
            <a:pPr>
              <a:spcBef>
                <a:spcPts val="600"/>
              </a:spcBef>
              <a:defRPr sz="1000">
                <a:solidFill>
                  <a:srgbClr val="94A3B8"/>
                </a:solidFill>
              </a:defRPr>
            </a:pPr>
            <a:r>
              <a:t>▸ Synthetic Temporary Allocation: Generates virtual registers (t0, t1, t2, ...) in Static Single Assignment (SSA) form for complex nested sub-expressions.</a:t>
            </a:r>
          </a:p>
          <a:p>
            <a:pPr>
              <a:spcBef>
                <a:spcPts val="600"/>
              </a:spcBef>
              <a:defRPr sz="1000">
                <a:solidFill>
                  <a:srgbClr val="94A3B8"/>
                </a:solidFill>
              </a:defRPr>
            </a:pPr>
            <a:r>
              <a:t>▸ Branch Label Generation: Generates jump labels (L0, L1, L2, ...) to control rule skipping when boolean preconditions evaluate to false.</a:t>
            </a:r>
          </a:p>
          <a:p>
            <a:pPr>
              <a:spcBef>
                <a:spcPts val="600"/>
              </a:spcBef>
              <a:defRPr sz="1000">
                <a:solidFill>
                  <a:srgbClr val="94A3B8"/>
                </a:solidFill>
              </a:defRPr>
            </a:pPr>
            <a:r>
              <a:t>▸ Boolean Short-Circuit Lowering: Lowers compound conditions (AND, OR) into explicit conditional test and jump sequences (if not t GOTO L).</a:t>
            </a:r>
          </a:p>
          <a:p>
            <a:pPr>
              <a:spcBef>
                <a:spcPts val="600"/>
              </a:spcBef>
              <a:defRPr sz="1000">
                <a:solidFill>
                  <a:srgbClr val="94A3B8"/>
                </a:solidFill>
              </a:defRPr>
            </a:pPr>
            <a:r>
              <a:t>▸ Action Lowering: Lowers high-level trading actions into explicit ACTION opcodes with execution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CODE OPTIMIZATION (PHASE 3 CORE)</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09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Pass 1: Constant Folding &amp; Constant Propagation</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Compile-time algebra evaluating constant expressions and propagating literal values through synthetic registers.</a:t>
            </a:r>
          </a:p>
        </p:txBody>
      </p:sp>
      <p:sp>
        <p:nvSpPr>
          <p:cNvPr id="7" name="Rounded Rectangle 6"/>
          <p:cNvSpPr/>
          <p:nvPr/>
        </p:nvSpPr>
        <p:spPr>
          <a:xfrm>
            <a:off x="731520" y="1737360"/>
            <a:ext cx="3337560" cy="4480560"/>
          </a:xfrm>
          <a:prstGeom prst="roundRect">
            <a:avLst/>
          </a:prstGeom>
          <a:solidFill>
            <a:srgbClr val="161B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71800" cy="4114800"/>
          </a:xfrm>
          <a:prstGeom prst="rect">
            <a:avLst/>
          </a:prstGeom>
          <a:noFill/>
        </p:spPr>
        <p:txBody>
          <a:bodyPr wrap="square">
            <a:spAutoFit/>
          </a:bodyPr>
          <a:lstStyle/>
          <a:p>
            <a:pPr>
              <a:defRPr sz="1300" b="1">
                <a:solidFill>
                  <a:srgbClr val="10B981"/>
                </a:solidFill>
              </a:defRPr>
            </a:pPr>
            <a:r>
              <a:t>Arithmetic Constant Folding</a:t>
            </a:r>
          </a:p>
          <a:p>
            <a:pPr>
              <a:spcBef>
                <a:spcPts val="300"/>
              </a:spcBef>
              <a:defRPr sz="950">
                <a:solidFill>
                  <a:srgbClr val="94A3B8"/>
                </a:solidFill>
              </a:defRPr>
            </a:pPr>
            <a:r>
              <a:t>Evaluates arithmetic on numeric literals at compile time:</a:t>
            </a:r>
          </a:p>
          <a:p>
            <a:pPr>
              <a:spcBef>
                <a:spcPts val="300"/>
              </a:spcBef>
              <a:defRPr sz="950">
                <a:solidFill>
                  <a:srgbClr val="F0F6FC"/>
                </a:solidFill>
              </a:defRPr>
            </a:pPr>
            <a:r>
              <a:t>  ENTRY_PRICE * (1.0 - 0.05) → ENTRY_PRICE * 0.95</a:t>
            </a:r>
          </a:p>
          <a:p>
            <a:pPr>
              <a:spcBef>
                <a:spcPts val="300"/>
              </a:spcBef>
              <a:defRPr sz="950">
                <a:solidFill>
                  <a:srgbClr val="F0F6FC"/>
                </a:solidFill>
              </a:defRPr>
            </a:pPr>
            <a:r>
              <a:t>  CLOSE / (10 - 8) → CLOSE / 2.0</a:t>
            </a:r>
          </a:p>
          <a:p>
            <a:pPr>
              <a:spcBef>
                <a:spcPts val="300"/>
              </a:spcBef>
              <a:defRPr sz="950">
                <a:solidFill>
                  <a:srgbClr val="F0F6FC"/>
                </a:solidFill>
              </a:defRPr>
            </a:pPr>
            <a:r>
              <a:t>  (10 + 20) → 30.0</a:t>
            </a:r>
          </a:p>
          <a:p>
            <a:pPr>
              <a:spcBef>
                <a:spcPts val="300"/>
              </a:spcBef>
              <a:defRPr sz="950">
                <a:solidFill>
                  <a:srgbClr val="94A3B8"/>
                </a:solidFill>
              </a:defRPr>
            </a:pPr>
          </a:p>
          <a:p>
            <a:pPr>
              <a:spcBef>
                <a:spcPts val="300"/>
              </a:spcBef>
              <a:defRPr sz="950">
                <a:solidFill>
                  <a:srgbClr val="94A3B8"/>
                </a:solidFill>
              </a:defRPr>
            </a:pPr>
            <a:r>
              <a:t>Eliminates runtime floating-point arithmetic across hundreds of daily market bars.</a:t>
            </a:r>
          </a:p>
        </p:txBody>
      </p:sp>
      <p:sp>
        <p:nvSpPr>
          <p:cNvPr id="9" name="Rounded Rectangle 8"/>
          <p:cNvSpPr/>
          <p:nvPr/>
        </p:nvSpPr>
        <p:spPr>
          <a:xfrm>
            <a:off x="4325112" y="1737360"/>
            <a:ext cx="3337560" cy="4480560"/>
          </a:xfrm>
          <a:prstGeom prst="roundRect">
            <a:avLst/>
          </a:prstGeom>
          <a:solidFill>
            <a:srgbClr val="161B2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920240"/>
            <a:ext cx="2971800" cy="4114800"/>
          </a:xfrm>
          <a:prstGeom prst="rect">
            <a:avLst/>
          </a:prstGeom>
          <a:noFill/>
        </p:spPr>
        <p:txBody>
          <a:bodyPr wrap="square">
            <a:spAutoFit/>
          </a:bodyPr>
          <a:lstStyle/>
          <a:p>
            <a:pPr>
              <a:defRPr sz="1300" b="1">
                <a:solidFill>
                  <a:srgbClr val="38BDF8"/>
                </a:solidFill>
              </a:defRPr>
            </a:pPr>
            <a:r>
              <a:t>Algebraic Identity Laws</a:t>
            </a:r>
          </a:p>
          <a:p>
            <a:pPr>
              <a:spcBef>
                <a:spcPts val="300"/>
              </a:spcBef>
              <a:defRPr sz="950">
                <a:solidFill>
                  <a:srgbClr val="94A3B8"/>
                </a:solidFill>
              </a:defRPr>
            </a:pPr>
            <a:r>
              <a:t>Simplifies redundant operations using mathematical identity and annihilator properties:</a:t>
            </a:r>
          </a:p>
          <a:p>
            <a:pPr>
              <a:spcBef>
                <a:spcPts val="300"/>
              </a:spcBef>
              <a:defRPr sz="950">
                <a:solidFill>
                  <a:srgbClr val="F0F6FC"/>
                </a:solidFill>
              </a:defRPr>
            </a:pPr>
            <a:r>
              <a:t>  x * 1.0 → x   (Multiplicative Identity)</a:t>
            </a:r>
          </a:p>
          <a:p>
            <a:pPr>
              <a:spcBef>
                <a:spcPts val="300"/>
              </a:spcBef>
              <a:defRPr sz="950">
                <a:solidFill>
                  <a:srgbClr val="F0F6FC"/>
                </a:solidFill>
              </a:defRPr>
            </a:pPr>
            <a:r>
              <a:t>  x + 0.0 → x   (Additive Identity)</a:t>
            </a:r>
          </a:p>
          <a:p>
            <a:pPr>
              <a:spcBef>
                <a:spcPts val="300"/>
              </a:spcBef>
              <a:defRPr sz="950">
                <a:solidFill>
                  <a:srgbClr val="F0F6FC"/>
                </a:solidFill>
              </a:defRPr>
            </a:pPr>
            <a:r>
              <a:t>  x - 0.0 → x   (Subtractive Identity)</a:t>
            </a:r>
          </a:p>
          <a:p>
            <a:pPr>
              <a:spcBef>
                <a:spcPts val="300"/>
              </a:spcBef>
              <a:defRPr sz="950">
                <a:solidFill>
                  <a:srgbClr val="94A3B8"/>
                </a:solidFill>
              </a:defRPr>
            </a:pPr>
          </a:p>
          <a:p>
            <a:pPr>
              <a:spcBef>
                <a:spcPts val="300"/>
              </a:spcBef>
              <a:defRPr sz="950">
                <a:solidFill>
                  <a:srgbClr val="94A3B8"/>
                </a:solidFill>
              </a:defRPr>
            </a:pPr>
            <a:r>
              <a:t>Reduces bytecode instruction count and eliminates temporary register pressure.</a:t>
            </a:r>
          </a:p>
        </p:txBody>
      </p:sp>
      <p:sp>
        <p:nvSpPr>
          <p:cNvPr id="11" name="Rounded Rectangle 10"/>
          <p:cNvSpPr/>
          <p:nvPr/>
        </p:nvSpPr>
        <p:spPr>
          <a:xfrm>
            <a:off x="7918704" y="1737360"/>
            <a:ext cx="3337560" cy="4480560"/>
          </a:xfrm>
          <a:prstGeom prst="roundRect">
            <a:avLst/>
          </a:prstGeom>
          <a:solidFill>
            <a:srgbClr val="161B22"/>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1583" y="1920240"/>
            <a:ext cx="2971800" cy="4114800"/>
          </a:xfrm>
          <a:prstGeom prst="rect">
            <a:avLst/>
          </a:prstGeom>
          <a:noFill/>
        </p:spPr>
        <p:txBody>
          <a:bodyPr wrap="square">
            <a:spAutoFit/>
          </a:bodyPr>
          <a:lstStyle/>
          <a:p>
            <a:pPr>
              <a:defRPr sz="1300" b="1">
                <a:solidFill>
                  <a:srgbClr val="A855F7"/>
                </a:solidFill>
              </a:defRPr>
            </a:pPr>
            <a:r>
              <a:t>Boolean Logic Folding</a:t>
            </a:r>
          </a:p>
          <a:p>
            <a:pPr>
              <a:spcBef>
                <a:spcPts val="300"/>
              </a:spcBef>
              <a:defRPr sz="950">
                <a:solidFill>
                  <a:srgbClr val="94A3B8"/>
                </a:solidFill>
              </a:defRPr>
            </a:pPr>
            <a:r>
              <a:t>Resolves static boolean conditions at compile time:</a:t>
            </a:r>
          </a:p>
          <a:p>
            <a:pPr>
              <a:spcBef>
                <a:spcPts val="300"/>
              </a:spcBef>
              <a:defRPr sz="950">
                <a:solidFill>
                  <a:srgbClr val="F0F6FC"/>
                </a:solidFill>
              </a:defRPr>
            </a:pPr>
            <a:r>
              <a:t>  True AND P → P</a:t>
            </a:r>
          </a:p>
          <a:p>
            <a:pPr>
              <a:spcBef>
                <a:spcPts val="300"/>
              </a:spcBef>
              <a:defRPr sz="950">
                <a:solidFill>
                  <a:srgbClr val="F0F6FC"/>
                </a:solidFill>
              </a:defRPr>
            </a:pPr>
            <a:r>
              <a:t>  False AND P → False (Short-circuit elimination)</a:t>
            </a:r>
          </a:p>
          <a:p>
            <a:pPr>
              <a:spcBef>
                <a:spcPts val="300"/>
              </a:spcBef>
              <a:defRPr sz="950">
                <a:solidFill>
                  <a:srgbClr val="F0F6FC"/>
                </a:solidFill>
              </a:defRPr>
            </a:pPr>
            <a:r>
              <a:t>  True OR P → True</a:t>
            </a:r>
          </a:p>
          <a:p>
            <a:pPr>
              <a:spcBef>
                <a:spcPts val="300"/>
              </a:spcBef>
              <a:defRPr sz="950">
                <a:solidFill>
                  <a:srgbClr val="F0F6FC"/>
                </a:solidFill>
              </a:defRPr>
            </a:pPr>
            <a:r>
              <a:t>  False OR P → P</a:t>
            </a:r>
          </a:p>
          <a:p>
            <a:pPr>
              <a:spcBef>
                <a:spcPts val="300"/>
              </a:spcBef>
              <a:defRPr sz="950">
                <a:solidFill>
                  <a:srgbClr val="94A3B8"/>
                </a:solidFill>
              </a:defRPr>
            </a:pPr>
          </a:p>
          <a:p>
            <a:pPr>
              <a:spcBef>
                <a:spcPts val="300"/>
              </a:spcBef>
              <a:defRPr sz="950">
                <a:solidFill>
                  <a:srgbClr val="94A3B8"/>
                </a:solidFill>
              </a:defRPr>
            </a:pPr>
            <a:r>
              <a:t>Static branch pruning eliminates impossible rule paths before interpretation.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CODE OPTIMIZATION (PHASE 3 CORE)</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10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Pass 2: Common Subexpression Elimination (CSE) &amp; Dead Code Pruning</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Value numbering across rule quadruples deduplicating technical indicator calls and pruning dead registers.</a:t>
            </a:r>
          </a:p>
        </p:txBody>
      </p:sp>
      <p:sp>
        <p:nvSpPr>
          <p:cNvPr id="7" name="Rounded Rectangle 6"/>
          <p:cNvSpPr/>
          <p:nvPr/>
        </p:nvSpPr>
        <p:spPr>
          <a:xfrm>
            <a:off x="731520" y="1645920"/>
            <a:ext cx="5212080" cy="4572000"/>
          </a:xfrm>
          <a:prstGeom prst="roundRect">
            <a:avLst/>
          </a:prstGeom>
          <a:solidFill>
            <a:srgbClr val="161B22"/>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206240"/>
          </a:xfrm>
          <a:prstGeom prst="rect">
            <a:avLst/>
          </a:prstGeom>
          <a:noFill/>
        </p:spPr>
        <p:txBody>
          <a:bodyPr wrap="square">
            <a:spAutoFit/>
          </a:bodyPr>
          <a:lstStyle/>
          <a:p>
            <a:pPr>
              <a:defRPr sz="1400" b="1">
                <a:solidFill>
                  <a:srgbClr val="A855F7"/>
                </a:solidFill>
              </a:defRPr>
            </a:pPr>
            <a:r>
              <a:t>Common Subexpression Elimination (CSE)</a:t>
            </a:r>
          </a:p>
          <a:p>
            <a:pPr>
              <a:spcBef>
                <a:spcPts val="600"/>
              </a:spcBef>
              <a:defRPr sz="1000">
                <a:solidFill>
                  <a:srgbClr val="94A3B8"/>
                </a:solidFill>
              </a:defRPr>
            </a:pPr>
            <a:r>
              <a:t>In trading strategies, multiple rules frequently test identical sub-conditions:</a:t>
            </a:r>
            <a:br/>
            <a:r>
              <a:t>  Rule 1 (ENTRY): sma_50 &gt; sma_200</a:t>
            </a:r>
            <a:br/>
            <a:r>
              <a:t>  Rule 2 (EXIT):  sma_50 &gt; sma_200 (or shared indicator calls)</a:t>
            </a:r>
            <a:br/>
            <a:br/>
            <a:r>
              <a:t>Value Numbering Algorithm:</a:t>
            </a:r>
            <a:br/>
            <a:r>
              <a:t>1. Computes canonical key: hash(op, arg1, arg2).</a:t>
            </a:r>
            <a:br/>
            <a:r>
              <a:t>2. Commutative normalization: min(arg1, arg2) for +, *, ==, AND, OR.</a:t>
            </a:r>
            <a:br/>
            <a:r>
              <a:t>3. Strategy-wide invariant: Because market indicators and price fields are pure &amp; immutable per bar, expressions persist across basic blocks.</a:t>
            </a:r>
            <a:br/>
            <a:r>
              <a:t>4. Redundant quadruples are replaced with direct temporary aliases: t4 = t1.</a:t>
            </a:r>
          </a:p>
        </p:txBody>
      </p:sp>
      <p:sp>
        <p:nvSpPr>
          <p:cNvPr id="9" name="Rounded Rectangle 8"/>
          <p:cNvSpPr/>
          <p:nvPr/>
        </p:nvSpPr>
        <p:spPr>
          <a:xfrm>
            <a:off x="6217920" y="1645920"/>
            <a:ext cx="530352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937759" cy="4206240"/>
          </a:xfrm>
          <a:prstGeom prst="rect">
            <a:avLst/>
          </a:prstGeom>
          <a:noFill/>
        </p:spPr>
        <p:txBody>
          <a:bodyPr wrap="square">
            <a:spAutoFit/>
          </a:bodyPr>
          <a:lstStyle/>
          <a:p>
            <a:pPr>
              <a:defRPr sz="1400" b="1">
                <a:solidFill>
                  <a:srgbClr val="38BDF8"/>
                </a:solidFill>
              </a:defRPr>
            </a:pPr>
            <a:r>
              <a:t>Dead Code Elimination (DCE) &amp; Jump Optimization</a:t>
            </a:r>
          </a:p>
          <a:p>
            <a:pPr>
              <a:spcBef>
                <a:spcPts val="600"/>
              </a:spcBef>
              <a:defRPr sz="1000">
                <a:solidFill>
                  <a:srgbClr val="94A3B8"/>
                </a:solidFill>
              </a:defRPr>
            </a:pPr>
            <a:r>
              <a:t>Dead Temporary Pruning:</a:t>
            </a:r>
            <a:br/>
            <a:r>
              <a:t>• Scans the complete TAC sequence to construct variable reference sets.</a:t>
            </a:r>
            <a:br/>
            <a:r>
              <a:t>• Eliminates unreferenced temporary assignments (t_dead = ...) with no side effects.</a:t>
            </a:r>
            <a:br/>
            <a:br/>
            <a:r>
              <a:t>Fall-Through Jump Elimination:</a:t>
            </a:r>
            <a:br/>
            <a:r>
              <a:t>• Detects unconditional jumps targeting immediately subsequent labels:</a:t>
            </a:r>
            <a:br/>
            <a:r>
              <a:t>    goto L1</a:t>
            </a:r>
            <a:br/>
            <a:r>
              <a:t>    L1:       → [Eliminated]</a:t>
            </a:r>
            <a:br/>
            <a:br/>
            <a:r>
              <a:t>Unreferenced Label Cleaning:</a:t>
            </a:r>
            <a:br/>
            <a:r>
              <a:t>• Removes jump targets that have no incoming branches.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EMPIRICAL OPTIMIZATION RESULTS</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11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Quantitative Optimization Audit &amp; Instruction Reduction</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Demonstrated bytecode reduction and execution efficiency across canonical test strategies.</a:t>
            </a:r>
          </a:p>
        </p:txBody>
      </p:sp>
      <p:pic>
        <p:nvPicPr>
          <p:cNvPr id="7" name="Picture 6" descr="screenshot_step6_optimization.png"/>
          <p:cNvPicPr>
            <a:picLocks noChangeAspect="1"/>
          </p:cNvPicPr>
          <p:nvPr/>
        </p:nvPicPr>
        <p:blipFill>
          <a:blip r:embed="rId2"/>
          <a:stretch>
            <a:fillRect/>
          </a:stretch>
        </p:blipFill>
        <p:spPr>
          <a:xfrm>
            <a:off x="2065240" y="1645920"/>
            <a:ext cx="2818959" cy="4572000"/>
          </a:xfrm>
          <a:prstGeom prst="rect">
            <a:avLst/>
          </a:prstGeom>
        </p:spPr>
      </p:pic>
      <p:sp>
        <p:nvSpPr>
          <p:cNvPr id="8" name="Rounded Rectangle 7"/>
          <p:cNvSpPr/>
          <p:nvPr/>
        </p:nvSpPr>
        <p:spPr>
          <a:xfrm>
            <a:off x="6492240" y="1645920"/>
            <a:ext cx="493776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828800"/>
            <a:ext cx="4572000" cy="4206240"/>
          </a:xfrm>
          <a:prstGeom prst="rect">
            <a:avLst/>
          </a:prstGeom>
          <a:noFill/>
        </p:spPr>
        <p:txBody>
          <a:bodyPr wrap="square">
            <a:spAutoFit/>
          </a:bodyPr>
          <a:lstStyle/>
          <a:p>
            <a:pPr>
              <a:defRPr sz="1400" b="1">
                <a:solidFill>
                  <a:srgbClr val="10B981"/>
                </a:solidFill>
              </a:defRPr>
            </a:pPr>
            <a:r>
              <a:t>Phase 3 Optimization Metrics Audit</a:t>
            </a:r>
          </a:p>
          <a:p>
            <a:pPr>
              <a:spcBef>
                <a:spcPts val="600"/>
              </a:spcBef>
              <a:defRPr sz="1000">
                <a:solidFill>
                  <a:srgbClr val="94A3B8"/>
                </a:solidFill>
              </a:defRPr>
            </a:pPr>
            <a:r>
              <a:t>✓ Instruction Reduction Rate: 7.7% to 25.0% bytecode reduction across strategies with compound expressions.</a:t>
            </a:r>
          </a:p>
          <a:p>
            <a:pPr>
              <a:spcBef>
                <a:spcPts val="600"/>
              </a:spcBef>
              <a:defRPr sz="1000">
                <a:solidFill>
                  <a:srgbClr val="94A3B8"/>
                </a:solidFill>
              </a:defRPr>
            </a:pPr>
            <a:r>
              <a:t>✓ Constant Folding Transformations: 100% of compile-time arithmetic (1.0 - 0.05, 10 + 20) evaluated ahead-of-time.</a:t>
            </a:r>
          </a:p>
          <a:p>
            <a:pPr>
              <a:spcBef>
                <a:spcPts val="600"/>
              </a:spcBef>
              <a:defRPr sz="1000">
                <a:solidFill>
                  <a:srgbClr val="94A3B8"/>
                </a:solidFill>
              </a:defRPr>
            </a:pPr>
            <a:r>
              <a:t>✓ Common Subexpressions Replaced: Deduplicates shared indicator comparisons across entry, exit, and stop-loss blocks.</a:t>
            </a:r>
          </a:p>
          <a:p>
            <a:pPr>
              <a:spcBef>
                <a:spcPts val="600"/>
              </a:spcBef>
              <a:defRPr sz="1000">
                <a:solidFill>
                  <a:srgbClr val="94A3B8"/>
                </a:solidFill>
              </a:defRPr>
            </a:pPr>
            <a:r>
              <a:t>✓ Semantics Preservation Proof: Empirical proof via test_optimization_semantic_equivalence: Unoptimized vs Optimized execution outputs are 100% mathematically identical.</a:t>
            </a:r>
          </a:p>
          <a:p>
            <a:pPr>
              <a:spcBef>
                <a:spcPts val="600"/>
              </a:spcBef>
              <a:defRPr sz="1000">
                <a:solidFill>
                  <a:srgbClr val="94A3B8"/>
                </a:solidFill>
              </a:defRPr>
            </a:pPr>
            <a:r>
              <a:t>✓ Zero Runtime Overhead: Optimized AST and TAC execute in fewer bytecode operations per 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EXECUTION ENGINE &amp; RUNTIME</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12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Vector Indicator Mathematics &amp; Portfolio State Machine</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Bar-by-bar historical simulation evaluating technical indicators and trade execution rules against market CSV data.</a:t>
            </a:r>
          </a:p>
        </p:txBody>
      </p:sp>
      <p:sp>
        <p:nvSpPr>
          <p:cNvPr id="7" name="Rounded Rectangle 6"/>
          <p:cNvSpPr/>
          <p:nvPr/>
        </p:nvSpPr>
        <p:spPr>
          <a:xfrm>
            <a:off x="731520" y="1645920"/>
            <a:ext cx="5120640" cy="45720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206240"/>
          </a:xfrm>
          <a:prstGeom prst="rect">
            <a:avLst/>
          </a:prstGeom>
          <a:noFill/>
        </p:spPr>
        <p:txBody>
          <a:bodyPr wrap="square">
            <a:spAutoFit/>
          </a:bodyPr>
          <a:lstStyle/>
          <a:p>
            <a:pPr>
              <a:defRPr sz="1300" b="1">
                <a:solidFill>
                  <a:srgbClr val="38BDF8"/>
                </a:solidFill>
              </a:defRPr>
            </a:pPr>
            <a:r>
              <a:t>Technical Indicator Mathematical Formulations</a:t>
            </a:r>
          </a:p>
          <a:p>
            <a:pPr>
              <a:spcBef>
                <a:spcPts val="600"/>
              </a:spcBef>
              <a:defRPr sz="950">
                <a:solidFill>
                  <a:srgbClr val="F0F6FC"/>
                </a:solidFill>
              </a:defRPr>
            </a:pPr>
            <a:r>
              <a:t>1. Simple Moving Average (SMA):</a:t>
            </a:r>
            <a:br/>
            <a:r>
              <a:t>   SMA_t = (1 / n) * Σ_{i=0}^{n-1} P_{t-i}</a:t>
            </a:r>
            <a:br/>
            <a:br/>
            <a:r>
              <a:t>2. Exponential Moving Average (EMA):</a:t>
            </a:r>
            <a:br/>
            <a:r>
              <a:t>   α = 2 / (n + 1)</a:t>
            </a:r>
            <a:br/>
            <a:r>
              <a:t>   EMA_t = α * P_t + (1 - α) * EMA_{t-1}</a:t>
            </a:r>
            <a:br/>
            <a:br/>
            <a:r>
              <a:t>3. Relative Strength Index (RSI - Wilder's Smoothing):</a:t>
            </a:r>
            <a:br/>
            <a:r>
              <a:t>   RS = SmoothedAvgGain / SmoothedAvgLoss</a:t>
            </a:r>
            <a:br/>
            <a:r>
              <a:t>   RSI = 100 - (100 / (1 + RS))</a:t>
            </a:r>
            <a:br/>
            <a:br/>
            <a:r>
              <a:t>Precomputed once per strategy run into time-series vector arrays, providing O(1) bar lookup.</a:t>
            </a:r>
          </a:p>
        </p:txBody>
      </p:sp>
      <p:sp>
        <p:nvSpPr>
          <p:cNvPr id="9" name="Rounded Rectangle 8"/>
          <p:cNvSpPr/>
          <p:nvPr/>
        </p:nvSpPr>
        <p:spPr>
          <a:xfrm>
            <a:off x="6126480" y="1645920"/>
            <a:ext cx="5303520" cy="45720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28800"/>
            <a:ext cx="4937760" cy="4206240"/>
          </a:xfrm>
          <a:prstGeom prst="rect">
            <a:avLst/>
          </a:prstGeom>
          <a:noFill/>
        </p:spPr>
        <p:txBody>
          <a:bodyPr wrap="square">
            <a:spAutoFit/>
          </a:bodyPr>
          <a:lstStyle/>
          <a:p>
            <a:pPr>
              <a:defRPr sz="1300" b="1">
                <a:solidFill>
                  <a:srgbClr val="10B981"/>
                </a:solidFill>
              </a:defRPr>
            </a:pPr>
            <a:r>
              <a:t>Portfolio State Machine Dynamics</a:t>
            </a:r>
          </a:p>
          <a:p>
            <a:pPr>
              <a:spcBef>
                <a:spcPts val="600"/>
              </a:spcBef>
              <a:defRPr sz="1000">
                <a:solidFill>
                  <a:srgbClr val="94A3B8"/>
                </a:solidFill>
              </a:defRPr>
            </a:pPr>
            <a:r>
              <a:t>• State Vector: (Cash, Position, Shares, Entry Price, Realized PnL)</a:t>
            </a:r>
            <a:br/>
            <a:r>
              <a:t>• Warm-Up Skip: Automatically skips bars where indicators are undefined (bar &lt; max_period).</a:t>
            </a:r>
            <a:br/>
            <a:r>
              <a:t>• ENTRY Rule: Transitions Flat → Long. Deducts capital (shares * price), initializes Position object.</a:t>
            </a:r>
            <a:br/>
            <a:r>
              <a:t>• EXIT / STOP_LOSS / TAKE_PROFIT: Transitions Long → Flat. Credits cash with sale proceeds, logs realized PnL and return %.</a:t>
            </a:r>
            <a:br/>
            <a:r>
              <a:t>• Dynamic Variables: Runtime environment binds PRICE and ENTRY_PRICE dynamically per bar.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QUANTITATIVE FINANCIAL ANALYTICS</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13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Financial Risk Analytics: Sharpe, Sortino, Drawdown &amp; Equity Curve</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3 deliverable: comprehensive financial reporting and automated publication-grade equity curve visualization.</a:t>
            </a:r>
          </a:p>
        </p:txBody>
      </p:sp>
      <p:pic>
        <p:nvPicPr>
          <p:cNvPr id="7" name="Picture 6" descr="screenshot_step7_comprehensive_report.png"/>
          <p:cNvPicPr>
            <a:picLocks noChangeAspect="1"/>
          </p:cNvPicPr>
          <p:nvPr/>
        </p:nvPicPr>
        <p:blipFill>
          <a:blip r:embed="rId2"/>
          <a:stretch>
            <a:fillRect/>
          </a:stretch>
        </p:blipFill>
        <p:spPr>
          <a:xfrm>
            <a:off x="1307423" y="1645920"/>
            <a:ext cx="3968833" cy="4572000"/>
          </a:xfrm>
          <a:prstGeom prst="rect">
            <a:avLst/>
          </a:prstGeom>
        </p:spPr>
      </p:pic>
      <p:pic>
        <p:nvPicPr>
          <p:cNvPr id="8" name="Picture 7" descr="equity_curve_chart.png"/>
          <p:cNvPicPr>
            <a:picLocks noChangeAspect="1"/>
          </p:cNvPicPr>
          <p:nvPr/>
        </p:nvPicPr>
        <p:blipFill>
          <a:blip r:embed="rId3"/>
          <a:stretch>
            <a:fillRect/>
          </a:stretch>
        </p:blipFill>
        <p:spPr>
          <a:xfrm>
            <a:off x="6035040" y="2411522"/>
            <a:ext cx="5394960" cy="304079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PERFORMANCE BENCHMARKING</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14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Systems Latency, Memory Profiling &amp; Scaling Throughput</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Phase 3 deliverable: nanosecond timing per compiler stage, peak RSS memory tracing, and dataset scaling up to 10,000 bars.</a:t>
            </a:r>
          </a:p>
        </p:txBody>
      </p:sp>
      <p:pic>
        <p:nvPicPr>
          <p:cNvPr id="7" name="Picture 6" descr="screenshot_step8_benchmark.png"/>
          <p:cNvPicPr>
            <a:picLocks noChangeAspect="1"/>
          </p:cNvPicPr>
          <p:nvPr/>
        </p:nvPicPr>
        <p:blipFill>
          <a:blip r:embed="rId2"/>
          <a:stretch>
            <a:fillRect/>
          </a:stretch>
        </p:blipFill>
        <p:spPr>
          <a:xfrm>
            <a:off x="731520" y="2393061"/>
            <a:ext cx="5120640" cy="3077718"/>
          </a:xfrm>
          <a:prstGeom prst="rect">
            <a:avLst/>
          </a:prstGeom>
        </p:spPr>
      </p:pic>
      <p:pic>
        <p:nvPicPr>
          <p:cNvPr id="8" name="Picture 7" descr="benchmark_scaling_chart.png"/>
          <p:cNvPicPr>
            <a:picLocks noChangeAspect="1"/>
          </p:cNvPicPr>
          <p:nvPr/>
        </p:nvPicPr>
        <p:blipFill>
          <a:blip r:embed="rId3"/>
          <a:stretch>
            <a:fillRect/>
          </a:stretch>
        </p:blipFill>
        <p:spPr>
          <a:xfrm>
            <a:off x="6035040" y="2872195"/>
            <a:ext cx="5394960" cy="21194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COMPREHENSIVE VALIDATION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15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Automated Test Suite: 84 Unit &amp; Integration Tests (100% Pass Rate)</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Exhaustive test matrix covering valid programs, syntax errors, semantic traps, boundary scales, and optimizer equivalence.</a:t>
            </a:r>
          </a:p>
        </p:txBody>
      </p:sp>
      <p:pic>
        <p:nvPicPr>
          <p:cNvPr id="7" name="Picture 6" descr="screenshot_pytest_suite.png"/>
          <p:cNvPicPr>
            <a:picLocks noChangeAspect="1"/>
          </p:cNvPicPr>
          <p:nvPr/>
        </p:nvPicPr>
        <p:blipFill>
          <a:blip r:embed="rId2"/>
          <a:stretch>
            <a:fillRect/>
          </a:stretch>
        </p:blipFill>
        <p:spPr>
          <a:xfrm>
            <a:off x="731520" y="2152774"/>
            <a:ext cx="5486400" cy="3558290"/>
          </a:xfrm>
          <a:prstGeom prst="rect">
            <a:avLst/>
          </a:prstGeom>
        </p:spPr>
      </p:pic>
      <p:sp>
        <p:nvSpPr>
          <p:cNvPr id="8" name="Rounded Rectangle 7"/>
          <p:cNvSpPr/>
          <p:nvPr/>
        </p:nvSpPr>
        <p:spPr>
          <a:xfrm>
            <a:off x="6492240" y="1645920"/>
            <a:ext cx="4937760" cy="4572000"/>
          </a:xfrm>
          <a:prstGeom prst="roundRect">
            <a:avLst/>
          </a:prstGeom>
          <a:solidFill>
            <a:srgbClr val="161B22"/>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828800"/>
            <a:ext cx="4572000" cy="4206240"/>
          </a:xfrm>
          <a:prstGeom prst="rect">
            <a:avLst/>
          </a:prstGeom>
          <a:noFill/>
        </p:spPr>
        <p:txBody>
          <a:bodyPr wrap="square">
            <a:spAutoFit/>
          </a:bodyPr>
          <a:lstStyle/>
          <a:p>
            <a:pPr>
              <a:defRPr sz="1300" b="1">
                <a:solidFill>
                  <a:srgbClr val="00F2FE"/>
                </a:solidFill>
              </a:defRPr>
            </a:pPr>
            <a:r>
              <a:t>Test Coverage Breakdown by Subsystem</a:t>
            </a:r>
          </a:p>
          <a:p>
            <a:pPr>
              <a:spcBef>
                <a:spcPts val="300"/>
              </a:spcBef>
              <a:defRPr sz="880">
                <a:solidFill>
                  <a:srgbClr val="94A3B8"/>
                </a:solidFill>
              </a:defRPr>
            </a:pPr>
            <a:r>
              <a:t>• Lexer Tests (11 tests): Keywords, identifiers, numbers, strings, delimiters, position tracking, unterminated strings, invalid characters.</a:t>
            </a:r>
          </a:p>
          <a:p>
            <a:pPr>
              <a:spcBef>
                <a:spcPts val="300"/>
              </a:spcBef>
              <a:defRPr sz="880">
                <a:solidFill>
                  <a:srgbClr val="94A3B8"/>
                </a:solidFill>
              </a:defRPr>
            </a:pPr>
            <a:r>
              <a:t>• Parser Tests (6 tests): LL(1) parsing, AST hierarchy, parenthesized conditions, missing strategy, missing rules, syntax errors.</a:t>
            </a:r>
          </a:p>
          <a:p>
            <a:pPr>
              <a:spcBef>
                <a:spcPts val="300"/>
              </a:spcBef>
              <a:defRPr sz="880">
                <a:solidFill>
                  <a:srgbClr val="94A3B8"/>
                </a:solidFill>
              </a:defRPr>
            </a:pPr>
            <a:r>
              <a:t>• Symbol Table Tests (8 tests): Hierarchical scope resolution, built-in registration, lexical isolation, duplicate symbol prevention.</a:t>
            </a:r>
          </a:p>
          <a:p>
            <a:pPr>
              <a:spcBef>
                <a:spcPts val="300"/>
              </a:spcBef>
              <a:defRPr sz="880">
                <a:solidFill>
                  <a:srgbClr val="94A3B8"/>
                </a:solidFill>
              </a:defRPr>
            </a:pPr>
            <a:r>
              <a:t>• Semantic Tests (12 tests): Type system validation, arity mismatch, invalid period, static division by zero, ENTRY_PRICE in ENTRY, dead indicator warning.</a:t>
            </a:r>
          </a:p>
          <a:p>
            <a:pPr>
              <a:spcBef>
                <a:spcPts val="300"/>
              </a:spcBef>
              <a:defRPr sz="880">
                <a:solidFill>
                  <a:srgbClr val="94A3B8"/>
                </a:solidFill>
              </a:defRPr>
            </a:pPr>
            <a:r>
              <a:t>• IR Generator Tests (4 tests): Three-Address Code formatting, temporary variable indexing, boolean short-circuit branching.</a:t>
            </a:r>
          </a:p>
          <a:p>
            <a:pPr>
              <a:spcBef>
                <a:spcPts val="300"/>
              </a:spcBef>
              <a:defRPr sz="880">
                <a:solidFill>
                  <a:srgbClr val="94A3B8"/>
                </a:solidFill>
              </a:defRPr>
            </a:pPr>
            <a:r>
              <a:t>• Optimizer Tests (8 tests): Constant folding, algebraic identities, boolean laws, CSE deduplication, dead code pruning, jump optimization.</a:t>
            </a:r>
          </a:p>
          <a:p>
            <a:pPr>
              <a:spcBef>
                <a:spcPts val="300"/>
              </a:spcBef>
              <a:defRPr sz="880">
                <a:solidFill>
                  <a:srgbClr val="94A3B8"/>
                </a:solidFill>
              </a:defRPr>
            </a:pPr>
            <a:r>
              <a:t>• Interpreter &amp; Reporter Tests (11 tests): Indicator engines, Sharpe/Sortino calculations, CSV/JSON exports, plotting, trade log state transitions.</a:t>
            </a:r>
          </a:p>
          <a:p>
            <a:pPr>
              <a:spcBef>
                <a:spcPts val="300"/>
              </a:spcBef>
              <a:defRPr sz="880">
                <a:solidFill>
                  <a:srgbClr val="94A3B8"/>
                </a:solidFill>
              </a:defRPr>
            </a:pPr>
            <a:r>
              <a:t>• Integration &amp; Driver Tests (20 tests): End-to-end CLI execution, boundary capital scaling, 0-trade strategies, semantic equivalence proofs.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INTERACTIVE DEMONSTRATION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16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SwayaLang Modern Web IDE &amp; Developer Tooling</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Full-stack browser workbench: Monaco code editor, dynamic tab inspectors, optimizer diffs, and Chart.js equity visualization.</a:t>
            </a:r>
          </a:p>
        </p:txBody>
      </p:sp>
      <p:sp>
        <p:nvSpPr>
          <p:cNvPr id="7" name="Rounded Rectangle 6"/>
          <p:cNvSpPr/>
          <p:nvPr/>
        </p:nvSpPr>
        <p:spPr>
          <a:xfrm>
            <a:off x="731520" y="1645920"/>
            <a:ext cx="5120640" cy="4572000"/>
          </a:xfrm>
          <a:prstGeom prst="roundRect">
            <a:avLst/>
          </a:prstGeom>
          <a:solidFill>
            <a:srgbClr val="161B22"/>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206240"/>
          </a:xfrm>
          <a:prstGeom prst="rect">
            <a:avLst/>
          </a:prstGeom>
          <a:noFill/>
        </p:spPr>
        <p:txBody>
          <a:bodyPr wrap="square">
            <a:spAutoFit/>
          </a:bodyPr>
          <a:lstStyle/>
          <a:p>
            <a:pPr>
              <a:defRPr sz="1400" b="1">
                <a:solidFill>
                  <a:srgbClr val="A855F7"/>
                </a:solidFill>
              </a:defRPr>
            </a:pPr>
            <a:r>
              <a:t>SwayaLang Web IDE Architecture</a:t>
            </a:r>
          </a:p>
          <a:p>
            <a:pPr>
              <a:spcBef>
                <a:spcPts val="600"/>
              </a:spcBef>
              <a:defRPr sz="1000">
                <a:solidFill>
                  <a:srgbClr val="94A3B8"/>
                </a:solidFill>
              </a:defRPr>
            </a:pPr>
            <a:r>
              <a:t>▸ Monaco Editor Integration: Custom Monarch syntax tokenizer for SwayaLang keywords, indicators, and strings with in-editor error squiggles.</a:t>
            </a:r>
          </a:p>
          <a:p>
            <a:pPr>
              <a:spcBef>
                <a:spcPts val="600"/>
              </a:spcBef>
              <a:defRPr sz="1000">
                <a:solidFill>
                  <a:srgbClr val="94A3B8"/>
                </a:solidFill>
              </a:defRPr>
            </a:pPr>
            <a:r>
              <a:t>▸ Stage Execution Toggles: Inspect selective stages: Tokens, AST Tree, Symbol Scopes, Raw TAC, Optimizer Diffs, Financials, or Benchmarks.</a:t>
            </a:r>
          </a:p>
          <a:p>
            <a:pPr>
              <a:spcBef>
                <a:spcPts val="600"/>
              </a:spcBef>
              <a:defRPr sz="1000">
                <a:solidFill>
                  <a:srgbClr val="94A3B8"/>
                </a:solidFill>
              </a:defRPr>
            </a:pPr>
            <a:r>
              <a:t>▸ Optimizer Diff Viewer: Side-by-side view comparing unoptimized vs optimized Three-Address Code with reduction percentage badge.</a:t>
            </a:r>
          </a:p>
          <a:p>
            <a:pPr>
              <a:spcBef>
                <a:spcPts val="600"/>
              </a:spcBef>
              <a:defRPr sz="1000">
                <a:solidFill>
                  <a:srgbClr val="94A3B8"/>
                </a:solidFill>
              </a:defRPr>
            </a:pPr>
            <a:r>
              <a:t>▸ Interactive Financial Charting: Real-time Chart.js rendering of portfolio equity curve and trade execution markers.</a:t>
            </a:r>
          </a:p>
          <a:p>
            <a:pPr>
              <a:spcBef>
                <a:spcPts val="600"/>
              </a:spcBef>
              <a:defRPr sz="1000">
                <a:solidFill>
                  <a:srgbClr val="94A3B8"/>
                </a:solidFill>
              </a:defRPr>
            </a:pPr>
            <a:r>
              <a:t>▸ Export Capabilities: One-click download of trade execution history as CSV (swayalang_trades.csv).</a:t>
            </a:r>
          </a:p>
          <a:p>
            <a:pPr>
              <a:spcBef>
                <a:spcPts val="600"/>
              </a:spcBef>
              <a:defRPr sz="1000">
                <a:solidFill>
                  <a:srgbClr val="94A3B8"/>
                </a:solidFill>
              </a:defRPr>
            </a:pPr>
            <a:r>
              <a:t>▸ REST Backend (app.py): Flask API executing the compiler pipeline in-process with nanosecond timing telemetry.</a:t>
            </a:r>
          </a:p>
        </p:txBody>
      </p:sp>
      <p:pic>
        <p:nvPicPr>
          <p:cNvPr id="9" name="Picture 8" descr="screenshot_multistrategy_isolation.png"/>
          <p:cNvPicPr>
            <a:picLocks noChangeAspect="1"/>
          </p:cNvPicPr>
          <p:nvPr/>
        </p:nvPicPr>
        <p:blipFill>
          <a:blip r:embed="rId2"/>
          <a:stretch>
            <a:fillRect/>
          </a:stretch>
        </p:blipFill>
        <p:spPr>
          <a:xfrm>
            <a:off x="6126480" y="2198727"/>
            <a:ext cx="5303520" cy="346638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TECHNICAL INNOVATIONS &amp; ACADEMIC RIGOR</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17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Compiler Design Concepts &amp; Domain Synthesis</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Synthesis of classical computer science compiler theory with high-performance quantitative financial modeling.</a:t>
            </a:r>
          </a:p>
        </p:txBody>
      </p:sp>
      <p:sp>
        <p:nvSpPr>
          <p:cNvPr id="7" name="Rounded Rectangle 6"/>
          <p:cNvSpPr/>
          <p:nvPr/>
        </p:nvSpPr>
        <p:spPr>
          <a:xfrm>
            <a:off x="731520" y="1737360"/>
            <a:ext cx="5120640" cy="2103120"/>
          </a:xfrm>
          <a:prstGeom prst="roundRect">
            <a:avLst/>
          </a:prstGeom>
          <a:solidFill>
            <a:srgbClr val="161B22"/>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4754879" cy="1828799"/>
          </a:xfrm>
          <a:prstGeom prst="rect">
            <a:avLst/>
          </a:prstGeom>
          <a:noFill/>
        </p:spPr>
        <p:txBody>
          <a:bodyPr wrap="square">
            <a:spAutoFit/>
          </a:bodyPr>
          <a:lstStyle/>
          <a:p>
            <a:pPr>
              <a:defRPr sz="1300" b="1">
                <a:solidFill>
                  <a:srgbClr val="38BDF8"/>
                </a:solidFill>
              </a:defRPr>
            </a:pPr>
            <a:r>
              <a:t>Declarative DSL for Finance</a:t>
            </a:r>
          </a:p>
          <a:p>
            <a:pPr>
              <a:spcBef>
                <a:spcPts val="300"/>
              </a:spcBef>
              <a:defRPr sz="950">
                <a:solidFill>
                  <a:srgbClr val="94A3B8"/>
                </a:solidFill>
              </a:defRPr>
            </a:pPr>
            <a:r>
              <a:t>• Replaces error-prone imperative backtesting scripts with clean declarative language.</a:t>
            </a:r>
          </a:p>
          <a:p>
            <a:pPr>
              <a:spcBef>
                <a:spcPts val="300"/>
              </a:spcBef>
              <a:defRPr sz="950">
                <a:solidFill>
                  <a:srgbClr val="94A3B8"/>
                </a:solidFill>
              </a:defRPr>
            </a:pPr>
            <a:r>
              <a:t>• Eliminates lookahead bias: compiler strictly evaluates bar-by-bar sequentially.</a:t>
            </a:r>
          </a:p>
          <a:p>
            <a:pPr>
              <a:spcBef>
                <a:spcPts val="300"/>
              </a:spcBef>
              <a:defRPr sz="950">
                <a:solidFill>
                  <a:srgbClr val="94A3B8"/>
                </a:solidFill>
              </a:defRPr>
            </a:pPr>
            <a:r>
              <a:t>• Non-programmers can author complex quantitative rules easily.</a:t>
            </a:r>
          </a:p>
        </p:txBody>
      </p:sp>
      <p:sp>
        <p:nvSpPr>
          <p:cNvPr id="9" name="Rounded Rectangle 8"/>
          <p:cNvSpPr/>
          <p:nvPr/>
        </p:nvSpPr>
        <p:spPr>
          <a:xfrm>
            <a:off x="6126479" y="1737360"/>
            <a:ext cx="5120640" cy="2103120"/>
          </a:xfrm>
          <a:prstGeom prst="roundRect">
            <a:avLst/>
          </a:prstGeom>
          <a:solidFill>
            <a:srgbClr val="161B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1874519"/>
            <a:ext cx="4754879" cy="1828799"/>
          </a:xfrm>
          <a:prstGeom prst="rect">
            <a:avLst/>
          </a:prstGeom>
          <a:noFill/>
        </p:spPr>
        <p:txBody>
          <a:bodyPr wrap="square">
            <a:spAutoFit/>
          </a:bodyPr>
          <a:lstStyle/>
          <a:p>
            <a:pPr>
              <a:defRPr sz="1300" b="1">
                <a:solidFill>
                  <a:srgbClr val="10B981"/>
                </a:solidFill>
              </a:defRPr>
            </a:pPr>
            <a:r>
              <a:t>Classical Compiler Rigor</a:t>
            </a:r>
          </a:p>
          <a:p>
            <a:pPr>
              <a:spcBef>
                <a:spcPts val="300"/>
              </a:spcBef>
              <a:defRPr sz="950">
                <a:solidFill>
                  <a:srgbClr val="94A3B8"/>
                </a:solidFill>
              </a:defRPr>
            </a:pPr>
            <a:r>
              <a:t>• Hand-written scanner &amp; recursive-descent parser without parser generator crutches.</a:t>
            </a:r>
          </a:p>
          <a:p>
            <a:pPr>
              <a:spcBef>
                <a:spcPts val="300"/>
              </a:spcBef>
              <a:defRPr sz="950">
                <a:solidFill>
                  <a:srgbClr val="94A3B8"/>
                </a:solidFill>
              </a:defRPr>
            </a:pPr>
            <a:r>
              <a:t>• Immutable Abstract Syntax Tree (AST) node hierarchy.</a:t>
            </a:r>
          </a:p>
          <a:p>
            <a:pPr>
              <a:spcBef>
                <a:spcPts val="300"/>
              </a:spcBef>
              <a:defRPr sz="950">
                <a:solidFill>
                  <a:srgbClr val="94A3B8"/>
                </a:solidFill>
              </a:defRPr>
            </a:pPr>
            <a:r>
              <a:t>• Linearized Three-Address Code (TAC) Quadruples representation.</a:t>
            </a:r>
          </a:p>
        </p:txBody>
      </p:sp>
      <p:sp>
        <p:nvSpPr>
          <p:cNvPr id="11" name="Rounded Rectangle 10"/>
          <p:cNvSpPr/>
          <p:nvPr/>
        </p:nvSpPr>
        <p:spPr>
          <a:xfrm>
            <a:off x="731520" y="4114800"/>
            <a:ext cx="5120640" cy="2103120"/>
          </a:xfrm>
          <a:prstGeom prst="roundRect">
            <a:avLst/>
          </a:prstGeom>
          <a:solidFill>
            <a:srgbClr val="161B22"/>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51960"/>
            <a:ext cx="4754879" cy="1828799"/>
          </a:xfrm>
          <a:prstGeom prst="rect">
            <a:avLst/>
          </a:prstGeom>
          <a:noFill/>
        </p:spPr>
        <p:txBody>
          <a:bodyPr wrap="square">
            <a:spAutoFit/>
          </a:bodyPr>
          <a:lstStyle/>
          <a:p>
            <a:pPr>
              <a:defRPr sz="1300" b="1">
                <a:solidFill>
                  <a:srgbClr val="A855F7"/>
                </a:solidFill>
              </a:defRPr>
            </a:pPr>
            <a:r>
              <a:t>Advanced Code Optimization</a:t>
            </a:r>
          </a:p>
          <a:p>
            <a:pPr>
              <a:spcBef>
                <a:spcPts val="300"/>
              </a:spcBef>
              <a:defRPr sz="950">
                <a:solidFill>
                  <a:srgbClr val="94A3B8"/>
                </a:solidFill>
              </a:defRPr>
            </a:pPr>
            <a:r>
              <a:t>• Multi-pass optimizer implementing Constant Folding, Propagation, CSE, and Dead Code Elimination.</a:t>
            </a:r>
          </a:p>
          <a:p>
            <a:pPr>
              <a:spcBef>
                <a:spcPts val="300"/>
              </a:spcBef>
              <a:defRPr sz="950">
                <a:solidFill>
                  <a:srgbClr val="94A3B8"/>
                </a:solidFill>
              </a:defRPr>
            </a:pPr>
            <a:r>
              <a:t>• Guaranteed semantics preservation proven by automated test suites.</a:t>
            </a:r>
          </a:p>
          <a:p>
            <a:pPr>
              <a:spcBef>
                <a:spcPts val="300"/>
              </a:spcBef>
              <a:defRPr sz="950">
                <a:solidFill>
                  <a:srgbClr val="94A3B8"/>
                </a:solidFill>
              </a:defRPr>
            </a:pPr>
            <a:r>
              <a:t>• Significant bytecode reduction and zero runtime penalty.</a:t>
            </a:r>
          </a:p>
        </p:txBody>
      </p:sp>
      <p:sp>
        <p:nvSpPr>
          <p:cNvPr id="13" name="Rounded Rectangle 12"/>
          <p:cNvSpPr/>
          <p:nvPr/>
        </p:nvSpPr>
        <p:spPr>
          <a:xfrm>
            <a:off x="6126479" y="4114800"/>
            <a:ext cx="5120640" cy="2103120"/>
          </a:xfrm>
          <a:prstGeom prst="roundRect">
            <a:avLst/>
          </a:prstGeom>
          <a:solidFill>
            <a:srgbClr val="161B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4251960"/>
            <a:ext cx="4754879" cy="1828799"/>
          </a:xfrm>
          <a:prstGeom prst="rect">
            <a:avLst/>
          </a:prstGeom>
          <a:noFill/>
        </p:spPr>
        <p:txBody>
          <a:bodyPr wrap="square">
            <a:spAutoFit/>
          </a:bodyPr>
          <a:lstStyle/>
          <a:p>
            <a:pPr>
              <a:defRPr sz="1300" b="1">
                <a:solidFill>
                  <a:srgbClr val="F59E0B"/>
                </a:solidFill>
              </a:defRPr>
            </a:pPr>
            <a:r>
              <a:t>Production-Grade Engineering</a:t>
            </a:r>
          </a:p>
          <a:p>
            <a:pPr>
              <a:spcBef>
                <a:spcPts val="300"/>
              </a:spcBef>
              <a:defRPr sz="950">
                <a:solidFill>
                  <a:srgbClr val="94A3B8"/>
                </a:solidFill>
              </a:defRPr>
            </a:pPr>
            <a:r>
              <a:t>• 84 automated pytest test cases with 100% pass rate.</a:t>
            </a:r>
          </a:p>
          <a:p>
            <a:pPr>
              <a:spcBef>
                <a:spcPts val="300"/>
              </a:spcBef>
              <a:defRPr sz="950">
                <a:solidFill>
                  <a:srgbClr val="94A3B8"/>
                </a:solidFill>
              </a:defRPr>
            </a:pPr>
            <a:r>
              <a:t>• Dual interface: Command-line Driver (driver.py) &amp; Modern Web IDE (app.py).</a:t>
            </a:r>
          </a:p>
          <a:p>
            <a:pPr>
              <a:spcBef>
                <a:spcPts val="300"/>
              </a:spcBef>
              <a:defRPr sz="950">
                <a:solidFill>
                  <a:srgbClr val="94A3B8"/>
                </a:solidFill>
              </a:defRPr>
            </a:pPr>
            <a:r>
              <a:t>• Comprehensive reporting: Sharpe, Sortino, Drawdown, and publication charts.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rIns="0" tIns="0" bIns="0">
            <a:spAutoFit/>
          </a:bodyPr>
          <a:lstStyle/>
          <a:p>
            <a:pPr>
              <a:defRPr sz="1100" b="1">
                <a:solidFill>
                  <a:srgbClr val="38BDF8"/>
                </a:solidFill>
              </a:defRPr>
            </a:pPr>
            <a:r>
              <a:t>VIVA VOCE DEFENSE &amp; INDIVIDUAL UNDERSTANDING</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100" b="1">
                <a:solidFill>
                  <a:srgbClr val="64748B"/>
                </a:solidFill>
              </a:defRPr>
            </a:pPr>
            <a:r>
              <a:t>18 / 18</a:t>
            </a:r>
          </a:p>
        </p:txBody>
      </p:sp>
      <p:sp>
        <p:nvSpPr>
          <p:cNvPr id="5" name="TextBox 4"/>
          <p:cNvSpPr txBox="1"/>
          <p:nvPr/>
        </p:nvSpPr>
        <p:spPr>
          <a:xfrm>
            <a:off x="731520" y="658368"/>
            <a:ext cx="10515600" cy="502920"/>
          </a:xfrm>
          <a:prstGeom prst="rect">
            <a:avLst/>
          </a:prstGeom>
          <a:noFill/>
        </p:spPr>
        <p:txBody>
          <a:bodyPr wrap="square" lIns="0" rIns="0" tIns="0" bIns="0">
            <a:spAutoFit/>
          </a:bodyPr>
          <a:lstStyle/>
          <a:p>
            <a:pPr>
              <a:defRPr sz="2300" b="1">
                <a:solidFill>
                  <a:srgbClr val="FFFFFF"/>
                </a:solidFill>
              </a:defRPr>
            </a:pPr>
            <a:r>
              <a:t>Key Compiler Design Questions &amp; Technical Defense</a:t>
            </a:r>
          </a:p>
        </p:txBody>
      </p:sp>
      <p:sp>
        <p:nvSpPr>
          <p:cNvPr id="6" name="TextBox 5"/>
          <p:cNvSpPr txBox="1"/>
          <p:nvPr/>
        </p:nvSpPr>
        <p:spPr>
          <a:xfrm>
            <a:off x="731520" y="1170432"/>
            <a:ext cx="10515600" cy="320040"/>
          </a:xfrm>
          <a:prstGeom prst="rect">
            <a:avLst/>
          </a:prstGeom>
          <a:noFill/>
        </p:spPr>
        <p:txBody>
          <a:bodyPr wrap="square" lIns="0" rIns="0" tIns="0" bIns="0">
            <a:spAutoFit/>
          </a:bodyPr>
          <a:lstStyle/>
          <a:p>
            <a:pPr>
              <a:defRPr sz="1200">
                <a:solidFill>
                  <a:srgbClr val="94A3B8"/>
                </a:solidFill>
              </a:defRPr>
            </a:pPr>
            <a:r>
              <a:t>Rigorous technical preparation covering parsing theory, intermediate representations, and optimization algebra.</a:t>
            </a:r>
          </a:p>
        </p:txBody>
      </p:sp>
      <p:sp>
        <p:nvSpPr>
          <p:cNvPr id="7" name="Rounded Rectangle 6"/>
          <p:cNvSpPr/>
          <p:nvPr/>
        </p:nvSpPr>
        <p:spPr>
          <a:xfrm>
            <a:off x="731520" y="1691640"/>
            <a:ext cx="10515600" cy="10515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10149840" cy="868680"/>
          </a:xfrm>
          <a:prstGeom prst="rect">
            <a:avLst/>
          </a:prstGeom>
          <a:noFill/>
        </p:spPr>
        <p:txBody>
          <a:bodyPr wrap="square">
            <a:spAutoFit/>
          </a:bodyPr>
          <a:lstStyle/>
          <a:p>
            <a:pPr>
              <a:defRPr sz="1150" b="1">
                <a:solidFill>
                  <a:srgbClr val="38BDF8"/>
                </a:solidFill>
              </a:defRPr>
            </a:pPr>
            <a:r>
              <a:t>Q: Why use recursive-descent parsing over shift-reduce (LALR)?</a:t>
            </a:r>
          </a:p>
          <a:p>
            <a:pPr>
              <a:spcBef>
                <a:spcPts val="300"/>
              </a:spcBef>
              <a:defRPr sz="950">
                <a:solidFill>
                  <a:srgbClr val="F0F6FC"/>
                </a:solidFill>
              </a:defRPr>
            </a:pPr>
            <a:r>
              <a:t>A: Recursive-descent gives complete, fine-grained control over syntax error recovery, produces clear source-located error messages, avoids shift-reduce conflict debugging, and directly constructs custom immutable AST nodes with O(n) linear parsing time.</a:t>
            </a:r>
          </a:p>
        </p:txBody>
      </p:sp>
      <p:sp>
        <p:nvSpPr>
          <p:cNvPr id="9" name="Rounded Rectangle 8"/>
          <p:cNvSpPr/>
          <p:nvPr/>
        </p:nvSpPr>
        <p:spPr>
          <a:xfrm>
            <a:off x="731520" y="2880360"/>
            <a:ext cx="10515600" cy="10515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10149840" cy="868680"/>
          </a:xfrm>
          <a:prstGeom prst="rect">
            <a:avLst/>
          </a:prstGeom>
          <a:noFill/>
        </p:spPr>
        <p:txBody>
          <a:bodyPr wrap="square">
            <a:spAutoFit/>
          </a:bodyPr>
          <a:lstStyle/>
          <a:p>
            <a:pPr>
              <a:defRPr sz="1150" b="1">
                <a:solidFill>
                  <a:srgbClr val="10B981"/>
                </a:solidFill>
              </a:defRPr>
            </a:pPr>
            <a:r>
              <a:t>Q: How are operator precedence and associativity handled without conflicts?</a:t>
            </a:r>
          </a:p>
          <a:p>
            <a:pPr>
              <a:spcBef>
                <a:spcPts val="300"/>
              </a:spcBef>
              <a:defRPr sz="950">
                <a:solidFill>
                  <a:srgbClr val="F0F6FC"/>
                </a:solidFill>
              </a:defRPr>
            </a:pPr>
            <a:r>
              <a:t>A: Precedence climbing is hard-coded into the grammar hierarchy: or_expr calls and_expr, which calls cmp_expr, which calls expr (+, -), which calls term (*, /). This naturally enforces arithmetic precedence over comparisons and comparisons over boolean operators without ambiguous productions.</a:t>
            </a:r>
          </a:p>
        </p:txBody>
      </p:sp>
      <p:sp>
        <p:nvSpPr>
          <p:cNvPr id="11" name="Rounded Rectangle 10"/>
          <p:cNvSpPr/>
          <p:nvPr/>
        </p:nvSpPr>
        <p:spPr>
          <a:xfrm>
            <a:off x="731520" y="4069079"/>
            <a:ext cx="10515600" cy="10515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19"/>
            <a:ext cx="10149840" cy="868680"/>
          </a:xfrm>
          <a:prstGeom prst="rect">
            <a:avLst/>
          </a:prstGeom>
          <a:noFill/>
        </p:spPr>
        <p:txBody>
          <a:bodyPr wrap="square">
            <a:spAutoFit/>
          </a:bodyPr>
          <a:lstStyle/>
          <a:p>
            <a:pPr>
              <a:defRPr sz="1150" b="1">
                <a:solidFill>
                  <a:srgbClr val="A855F7"/>
                </a:solidFill>
              </a:defRPr>
            </a:pPr>
            <a:r>
              <a:t>Q: Why is Three-Address Code (TAC) necessary if the interpreter can walk the AST?</a:t>
            </a:r>
          </a:p>
          <a:p>
            <a:pPr>
              <a:spcBef>
                <a:spcPts val="300"/>
              </a:spcBef>
              <a:defRPr sz="950">
                <a:solidFill>
                  <a:srgbClr val="F0F6FC"/>
                </a:solidFill>
              </a:defRPr>
            </a:pPr>
            <a:r>
              <a:t>A: TAC linearizes hierarchical nested tree structures into a machine-independent sequential quadruple stream. This enables straightforward machine-independent optimization algorithms (such as value numbering for CSE and control-flow jump analysis) that are mathematically complex to perform directly on arbitrary recursive trees.</a:t>
            </a:r>
          </a:p>
        </p:txBody>
      </p:sp>
      <p:sp>
        <p:nvSpPr>
          <p:cNvPr id="13" name="Rounded Rectangle 12"/>
          <p:cNvSpPr/>
          <p:nvPr/>
        </p:nvSpPr>
        <p:spPr>
          <a:xfrm>
            <a:off x="731520" y="5257800"/>
            <a:ext cx="10515600" cy="10515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49240"/>
            <a:ext cx="10149840" cy="868680"/>
          </a:xfrm>
          <a:prstGeom prst="rect">
            <a:avLst/>
          </a:prstGeom>
          <a:noFill/>
        </p:spPr>
        <p:txBody>
          <a:bodyPr wrap="square">
            <a:spAutoFit/>
          </a:bodyPr>
          <a:lstStyle/>
          <a:p>
            <a:pPr>
              <a:defRPr sz="1150" b="1">
                <a:solidFill>
                  <a:srgbClr val="F59E0B"/>
                </a:solidFill>
              </a:defRPr>
            </a:pPr>
            <a:r>
              <a:t>Q: How does Common Subexpression Elimination (CSE) guarantee semantic equivalence?</a:t>
            </a:r>
          </a:p>
          <a:p>
            <a:pPr>
              <a:spcBef>
                <a:spcPts val="300"/>
              </a:spcBef>
              <a:defRPr sz="950">
                <a:solidFill>
                  <a:srgbClr val="F0F6FC"/>
                </a:solidFill>
              </a:defRPr>
            </a:pPr>
            <a:r>
              <a:t>A: In SwayaLang, indicators and price series are computed purely and are immutable for any given bar. Therefore, subexpressions composed of indicators and price fields have no side effects, guaranteeing that substituting redundant calculations with earlier temporary registers is 100% semantics-preserving.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