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COMPILER DESIGN LABORATORY · BCSE307P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SwayaLang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 Domain-Specific Language &amp; Compiler for Stock-Trading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GitHub Repository: https://github.com/shuklaswayam/SwayaLang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265176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● PHASE 2: CORE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971800"/>
            <a:ext cx="2286000" cy="3200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● 63/63 TESTS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530352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STUDENT                          REG. NO.                     INSTITUTION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Swayam Shukla             24BCE0751             SCOPE, VIT Vellore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5303520" cy="1097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COMPLETE COMPILER PIPELINE OPERATIONAL</a:t>
            </a:r>
          </a:p>
          <a:p>
            <a:pPr>
              <a:spcBef>
                <a:spcPts val="400"/>
              </a:spcBef>
              <a:defRPr sz="1050">
                <a:solidFill>
                  <a:srgbClr val="F0F6FC"/>
                </a:solidFill>
              </a:defRPr>
            </a:pPr>
            <a:r>
              <a:t>Source (.strat) → Tokens → AST → Scoped SymTab → Semantics → TAC Quadruples → Interpreter &amp; Backtest</a:t>
            </a:r>
          </a:p>
        </p:txBody>
      </p:sp>
      <p:pic>
        <p:nvPicPr>
          <p:cNvPr id="13" name="Picture 12" descr="screenshot_code_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57488"/>
            <a:ext cx="5029200" cy="258270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0" y="3749039"/>
            <a:ext cx="502920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88620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PHASE 2 REVIEW OBJECTIVES &amp; DELIVERABLES</a:t>
            </a:r>
          </a:p>
          <a:p>
            <a:pPr>
              <a:spcBef>
                <a:spcPts val="400"/>
              </a:spcBef>
              <a:defRPr sz="1000">
                <a:solidFill>
                  <a:srgbClr val="F0F6FC"/>
                </a:solidFill>
              </a:defRPr>
            </a:pPr>
            <a:r>
              <a:t>▸ Front-to-back compilation: .strat specification executes against real historical data.</a:t>
            </a:r>
          </a:p>
          <a:p>
            <a:pPr>
              <a:spcBef>
                <a:spcPts val="400"/>
              </a:spcBef>
              <a:defRPr sz="1000">
                <a:solidFill>
                  <a:srgbClr val="F0F6FC"/>
                </a:solidFill>
              </a:defRPr>
            </a:pPr>
            <a:r>
              <a:t>▸ Scoped Symbol Table: Parent-pointer tree with strict cross-strategy scope isolation.</a:t>
            </a:r>
          </a:p>
          <a:p>
            <a:pPr>
              <a:spcBef>
                <a:spcPts val="400"/>
              </a:spcBef>
              <a:defRPr sz="1000">
                <a:solidFill>
                  <a:srgbClr val="F0F6FC"/>
                </a:solidFill>
              </a:defRPr>
            </a:pPr>
            <a:r>
              <a:t>▸ Semantic Analysis: Two-type system (NUMERIC, BOOLEAN) with 4 compile-time error traps.</a:t>
            </a:r>
          </a:p>
          <a:p>
            <a:pPr>
              <a:spcBef>
                <a:spcPts val="400"/>
              </a:spcBef>
              <a:defRPr sz="1000">
                <a:solidFill>
                  <a:srgbClr val="F0F6FC"/>
                </a:solidFill>
              </a:defRPr>
            </a:pPr>
            <a:r>
              <a:t>▸ Intermediate Representation: Three-Address Code (TAC) with short-circuit branching.</a:t>
            </a:r>
          </a:p>
          <a:p>
            <a:pPr>
              <a:spcBef>
                <a:spcPts val="400"/>
              </a:spcBef>
              <a:defRPr sz="1000">
                <a:solidFill>
                  <a:srgbClr val="F0F6FC"/>
                </a:solidFill>
              </a:defRPr>
            </a:pPr>
            <a:r>
              <a:t>▸ Backtest Execution Engine: Quantitative proof of correctness (win rate, return %, drawdown).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MILESTONE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Phase 1 (Prototype) vs. Phase 2 (Core Implementation)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Transforming a preliminary syntactic prototype into an end-to-end executable compiler toolchain.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60320" cy="96012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LEXER &amp; PARSER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Full LL(1) Grammar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30 Token Types &amp; AST Hierarchy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560320" cy="96012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SCOPED SYMBOL TABLE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Hierarchical Scopes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Global Builtins + Strategy Scopes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2560320" cy="96012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SEMANTIC VALIDATION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Type &amp; Invariant Checks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NUMERIC/BOOLEAN &amp; 4 Error Traps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91640"/>
            <a:ext cx="2560320" cy="96012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7830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EXECUTION ENGINE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Backtest Simulation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TAC Quadruples + 63 Passing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40"/>
            <a:ext cx="52120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01  Lexical Analysis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✕ Phase 1: Basic keyword/literal token scanning without line/col tracking.</a:t>
            </a:r>
          </a:p>
          <a:p>
            <a:pPr>
              <a:spcBef>
                <a:spcPts val="200"/>
              </a:spcBef>
              <a:defRPr sz="850" b="1">
                <a:solidFill>
                  <a:srgbClr val="F0F6FC"/>
                </a:solidFill>
              </a:defRPr>
            </a:pPr>
            <a:r>
              <a:t>✓ Phase 2: Maximal-munch DFA scanner, 30 token types, exact (line, col) tracking, LexError recovery with source position highlighting.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834640"/>
            <a:ext cx="52120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02  Syntax Analysis &amp; AST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✕ Phase 1: Single-strategy prototype parser handling basic ENTRY rule.</a:t>
            </a:r>
          </a:p>
          <a:p>
            <a:pPr>
              <a:spcBef>
                <a:spcPts val="200"/>
              </a:spcBef>
              <a:defRPr sz="850" b="1">
                <a:solidFill>
                  <a:srgbClr val="F0F6FC"/>
                </a:solidFill>
              </a:defRPr>
            </a:pPr>
            <a:r>
              <a:t>✓ Phase 2: Full LL(1) recursive-descent parser, multi-strategy files, indicator decls, ENTRY/EXIT/STOP_LOSS/TAKE_PROFIT rules, precedence climbing.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39"/>
            <a:ext cx="52120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7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03  Symbol Table Management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✕ Phase 1: Not implemented (grammar prototype only).</a:t>
            </a:r>
          </a:p>
          <a:p>
            <a:pPr>
              <a:spcBef>
                <a:spcPts val="200"/>
              </a:spcBef>
              <a:defRPr sz="850" b="1">
                <a:solidFill>
                  <a:srgbClr val="F0F6FC"/>
                </a:solidFill>
              </a:defRPr>
            </a:pPr>
            <a:r>
              <a:t>✓ Phase 2: Hierarchical parent-pointer symbol table (Global + Strategy child scopes), scope isolation guarantees, forward reference support.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977639"/>
            <a:ext cx="52120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06907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04  Semantic Analysis &amp; Typing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✕ Phase 1: Not implemented.</a:t>
            </a:r>
          </a:p>
          <a:p>
            <a:pPr>
              <a:spcBef>
                <a:spcPts val="200"/>
              </a:spcBef>
              <a:defRPr sz="850" b="1">
                <a:solidFill>
                  <a:srgbClr val="F0F6FC"/>
                </a:solidFill>
              </a:defRPr>
            </a:pPr>
            <a:r>
              <a:t>✓ Phase 2: Two-type system (NUMERIC, BOOLEAN), indicator signature &amp; period validation, compile-time detection of undeclared vars, /0, invalid periods.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52120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1207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05  Intermediate Code (IR)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✕ Phase 1: Not implemented.</a:t>
            </a:r>
          </a:p>
          <a:p>
            <a:pPr>
              <a:spcBef>
                <a:spcPts val="200"/>
              </a:spcBef>
              <a:defRPr sz="850" b="1">
                <a:solidFill>
                  <a:srgbClr val="F0F6FC"/>
                </a:solidFill>
              </a:defRPr>
            </a:pPr>
            <a:r>
              <a:t>✓ Phase 2: Three-Address Code (TAC) Quadruples with temporaries (t0..tn), jump labels (L0..Ln), and boolean short-circuit branching.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5120640"/>
            <a:ext cx="52120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21207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06  Execution Engine &amp; Testing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✕ Phase 1: Manual testing, 27 prototype unit tests.</a:t>
            </a:r>
          </a:p>
          <a:p>
            <a:pPr>
              <a:spcBef>
                <a:spcPts val="200"/>
              </a:spcBef>
              <a:defRPr sz="850" b="1">
                <a:solidFill>
                  <a:srgbClr val="F0F6FC"/>
                </a:solidFill>
              </a:defRPr>
            </a:pPr>
            <a:r>
              <a:t>✓ Phase 2: Bar-by-bar interpreter, vector math (SMA/EMA/RSI), portfolio state machine, backtest report, 63 automated tests (100% pass rate).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Compiler System Architecture: Staged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Strict module boundaries and unidirectional dataflow from source text to backtest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417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11430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234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01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Lexer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lexer.py</a:t>
            </a:r>
          </a:p>
          <a:p>
            <a:pPr algn="ctr">
              <a:spcBef>
                <a:spcPts val="400"/>
              </a:spcBef>
              <a:defRPr sz="850">
                <a:solidFill>
                  <a:srgbClr val="10B981"/>
                </a:solidFill>
              </a:defRPr>
            </a:pPr>
            <a:r>
              <a:t>.strat →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828800"/>
            <a:ext cx="1417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1965960"/>
            <a:ext cx="11430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286000"/>
            <a:ext cx="1234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02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Parser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parser.py</a:t>
            </a:r>
          </a:p>
          <a:p>
            <a:pPr algn="ctr">
              <a:spcBef>
                <a:spcPts val="400"/>
              </a:spcBef>
              <a:defRPr sz="850">
                <a:solidFill>
                  <a:srgbClr val="10B981"/>
                </a:solidFill>
              </a:defRPr>
            </a:pPr>
            <a:r>
              <a:t>Tokens → 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1828800"/>
            <a:ext cx="1417320" cy="20116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77640" y="1965960"/>
            <a:ext cx="1143000" cy="2286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286000"/>
            <a:ext cx="1234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03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Symbol Table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symbol_table.py</a:t>
            </a:r>
          </a:p>
          <a:p>
            <a:pPr algn="ctr">
              <a:spcBef>
                <a:spcPts val="400"/>
              </a:spcBef>
              <a:defRPr sz="850">
                <a:solidFill>
                  <a:srgbClr val="10B981"/>
                </a:solidFill>
              </a:defRPr>
            </a:pPr>
            <a:r>
              <a:t>AST → Scoped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59" y="1828800"/>
            <a:ext cx="1417320" cy="20116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32120" y="1965960"/>
            <a:ext cx="1143000" cy="2286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286000"/>
            <a:ext cx="1234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04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Semantic Analyzer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semantic.py</a:t>
            </a:r>
          </a:p>
          <a:p>
            <a:pPr algn="ctr">
              <a:spcBef>
                <a:spcPts val="400"/>
              </a:spcBef>
              <a:defRPr sz="850">
                <a:solidFill>
                  <a:srgbClr val="10B981"/>
                </a:solidFill>
              </a:defRPr>
            </a:pPr>
            <a:r>
              <a:t>Type &amp; Domain Checks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1828800"/>
            <a:ext cx="1417320" cy="20116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86600" y="1965960"/>
            <a:ext cx="1143000" cy="2286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2286000"/>
            <a:ext cx="1234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05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IR Generator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ir.py</a:t>
            </a:r>
          </a:p>
          <a:p>
            <a:pPr algn="ctr">
              <a:spcBef>
                <a:spcPts val="400"/>
              </a:spcBef>
              <a:defRPr sz="850">
                <a:solidFill>
                  <a:srgbClr val="10B981"/>
                </a:solidFill>
              </a:defRPr>
            </a:pPr>
            <a:r>
              <a:t>AST → TAC Quadruples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1828800"/>
            <a:ext cx="1417320" cy="20116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41080" y="1965960"/>
            <a:ext cx="1143000" cy="2286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286000"/>
            <a:ext cx="1234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06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Interpreter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interpreter.py</a:t>
            </a:r>
          </a:p>
          <a:p>
            <a:pPr algn="ctr">
              <a:spcBef>
                <a:spcPts val="400"/>
              </a:spcBef>
              <a:defRPr sz="850">
                <a:solidFill>
                  <a:srgbClr val="10B981"/>
                </a:solidFill>
              </a:defRPr>
            </a:pPr>
            <a:r>
              <a:t>TAC + Data → Trades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1828800"/>
            <a:ext cx="1417320" cy="20116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95560" y="1965960"/>
            <a:ext cx="1143000" cy="2286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286000"/>
            <a:ext cx="1234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07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Reporter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interpreter.py</a:t>
            </a:r>
          </a:p>
          <a:p>
            <a:pPr algn="ctr">
              <a:spcBef>
                <a:spcPts val="400"/>
              </a:spcBef>
              <a:defRPr sz="850">
                <a:solidFill>
                  <a:srgbClr val="10B981"/>
                </a:solidFill>
              </a:defRPr>
            </a:pPr>
            <a:r>
              <a:t>Trades → Analytics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06240"/>
            <a:ext cx="347472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GUARANTEE 1: STRICT UNIDIRECTIONAL FLOW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Each module consumes solely the output of the prior stage with zero cross-module state leakage or hidden dependencies.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206240"/>
            <a:ext cx="347472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GUARANTEE 2: HEADLESS TESTABILITY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The parser operates on in-memory tokens; semantic analysis requires no market data; every phase is tested in absolute isolation.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4206240"/>
            <a:ext cx="347472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GUARANTEE 3: COMPILE-TIME VS. RUNTIME DECOUPLING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The symbol table records compile-time formulas and types; the interpreter binds dynamic prices and live rolling indicators.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FRONT-END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Lexical Analysis &amp; Recursive-Descent 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Deterministic maximal-munch scanner and LL(1) recursive-descent parser producing frozen AST nodes.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3035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FRONT-END ARCHITECTURE &amp; DESIGN HIGHLIGHTS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• 30 Distinct Token Types: Keywords, price fields (CLOSE, OPEN, PRICE), operators, and delimiters.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• Exact Source Position: Every token retains (line, column) origin for precise diagnostics.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• Precedence Climbing: Resolves arithmetic (*, /, +, -) and boolean (AND, OR) without left-recursion.</a:t>
            </a:r>
          </a:p>
          <a:p>
            <a:pPr>
              <a:spcBef>
                <a:spcPts val="400"/>
              </a:spcBef>
              <a:defRPr sz="950">
                <a:solidFill>
                  <a:srgbClr val="F0F6FC"/>
                </a:solidFill>
              </a:defRPr>
            </a:pPr>
            <a:r>
              <a:t>• Immutable Typed AST: Built with Python @dataclass(frozen=True) rooted at ASTNode base.</a:t>
            </a:r>
          </a:p>
        </p:txBody>
      </p:sp>
      <p:pic>
        <p:nvPicPr>
          <p:cNvPr id="9" name="Picture 8" descr="screenshot_step1_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82" y="3840480"/>
            <a:ext cx="4098794" cy="2423160"/>
          </a:xfrm>
          <a:prstGeom prst="rect">
            <a:avLst/>
          </a:prstGeom>
        </p:spPr>
      </p:pic>
      <p:pic>
        <p:nvPicPr>
          <p:cNvPr id="10" name="Picture 9" descr="screenshot_step2_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458" y="1691640"/>
            <a:ext cx="2766442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SYMBOL TABLE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Hierarchical Scopes &amp; Lexical Scoping 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Parent-pointer tree enforcing cross-strategy scope isolation and built-in symbol resolution.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30352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LEXICAL SCOPING MODEL &amp; HIERARCHY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Root Global Scope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Pre-populated with built-in indicator signatures: SMA(series, period), EMA(series, period), RSI(series, period), and 7 price series identifiers (CLOSE, OPEN, HIGH, LOW, VOLUME, PRICE, ENTRY_PRICE).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Strategy Child Scopes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Each STRATEGY block instantiates its own dedicated Scope object pointing to Global as its parent. Stores declared indicators (e.g. sma_20, rsi_14).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Scope Isolation Guarantee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Scope lookup walks strictly outward to the parent Global scope, never sideways to siblings. Identifiers in Strategy A cannot leak into Strategy B.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Forward References Supported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A pre-pass over indicator declarations populates strategy symbols before rule analysis, allowing rules to reference indicators declared anywhere in the block.</a:t>
            </a:r>
          </a:p>
        </p:txBody>
      </p:sp>
      <p:pic>
        <p:nvPicPr>
          <p:cNvPr id="9" name="Picture 8" descr="screenshot_step3_symbol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83088"/>
            <a:ext cx="5120640" cy="37891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SEMANTIC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Static Type Inference &amp; Indicator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Statically verifying domain constraints and expression type consistency before code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01  Two-Type System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NUMERIC vs. BOOLEAN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NUMERIC: Price series, scalar numbers, and arithmetic (+, -, *, /).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BOOLEAN: Relational comparisons (&gt;, &lt;, &gt;=, &lt;=, ==) and logical operators (AND, OR).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Strict Type Safety: Prevents illegal expressions such as (CLOSE &gt; 100) + 5 at compile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02  Indicator Signature Checks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Arity &amp; Argument Type Enforcement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Function Existence: Must resolve to BUILTIN_FUNC in Global Scope (SMA, EMA, RSI).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Arity Verification: Requires exactly 2 arguments (series, period).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Type Integrity: Arg 1 must be a PRICE_SERIES; Arg 2 must be an integer literal &gt; 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03  Identifier Resolution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Hierarchical Scope Walking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Every variable reference in condition trees is resolved against strategy Scope.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Unresolved identifiers raise immediate SemanticError with exact source coordinates.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Shadowing Prevention: Reserved series cannot be overridden as variable names.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023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6052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04  Static Dead-Code Warnings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Unused Indicator Tracking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After AST traversal, any declared indicator with zero symbol lookups is flagged.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Emits non-fatal compile-time warnings: [WARNING] Unused indicator 'x'.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Preserves compilation pipeline while notifying the trader of redundant computations.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NEGATIVE ERROR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Compile-Time Semantic Error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Trapping domain-specific illegal constructs at compile-time with source-anchored diagnostics.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6032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Undeclared Identifier</a:t>
            </a:r>
          </a:p>
          <a:p>
            <a:pPr>
              <a:spcBef>
                <a:spcPts val="200"/>
              </a:spcBef>
              <a:defRPr sz="850" b="1">
                <a:solidFill>
                  <a:srgbClr val="FFFFFF"/>
                </a:solidFill>
              </a:defRPr>
            </a:pPr>
            <a:r>
              <a:t>Typo / Missing Binding</a:t>
            </a:r>
          </a:p>
          <a:p>
            <a:pPr>
              <a:spcBef>
                <a:spcPts val="300"/>
              </a:spcBef>
              <a:defRPr sz="800">
                <a:solidFill>
                  <a:srgbClr val="94A3B8"/>
                </a:solidFill>
              </a:defRPr>
            </a:pPr>
            <a:r>
              <a:t>Catches missing indicator declarations or misspelled variables before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56032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Division by Zero</a:t>
            </a:r>
          </a:p>
          <a:p>
            <a:pPr>
              <a:spcBef>
                <a:spcPts val="200"/>
              </a:spcBef>
              <a:defRPr sz="850" b="1">
                <a:solidFill>
                  <a:srgbClr val="FFFFFF"/>
                </a:solidFill>
              </a:defRPr>
            </a:pPr>
            <a:r>
              <a:t>Literal Zero Divisor</a:t>
            </a:r>
          </a:p>
          <a:p>
            <a:pPr>
              <a:spcBef>
                <a:spcPts val="300"/>
              </a:spcBef>
              <a:defRPr sz="800">
                <a:solidFill>
                  <a:srgbClr val="94A3B8"/>
                </a:solidFill>
              </a:defRPr>
            </a:pPr>
            <a:r>
              <a:t>Statically evaluates literal divisors (expr / 0) preventing runtime crash.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256032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Invalid Period</a:t>
            </a:r>
          </a:p>
          <a:p>
            <a:pPr>
              <a:spcBef>
                <a:spcPts val="200"/>
              </a:spcBef>
              <a:defRPr sz="850" b="1">
                <a:solidFill>
                  <a:srgbClr val="FFFFFF"/>
                </a:solidFill>
              </a:defRPr>
            </a:pPr>
            <a:r>
              <a:t>Window Period &lt;= 0</a:t>
            </a:r>
          </a:p>
          <a:p>
            <a:pPr>
              <a:spcBef>
                <a:spcPts val="300"/>
              </a:spcBef>
              <a:defRPr sz="800">
                <a:solidFill>
                  <a:srgbClr val="94A3B8"/>
                </a:solidFill>
              </a:defRPr>
            </a:pPr>
            <a:r>
              <a:t>Enforces mathematical indicator constraints (e.g. SMA(CLOSE, 0) rejected).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91640"/>
            <a:ext cx="256032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783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ENTRY_PRICE in ENTRY</a:t>
            </a:r>
          </a:p>
          <a:p>
            <a:pPr>
              <a:spcBef>
                <a:spcPts val="200"/>
              </a:spcBef>
              <a:defRPr sz="850" b="1">
                <a:solidFill>
                  <a:srgbClr val="FFFFFF"/>
                </a:solidFill>
              </a:defRPr>
            </a:pPr>
            <a:r>
              <a:t>Premature Trade State</a:t>
            </a:r>
          </a:p>
          <a:p>
            <a:pPr>
              <a:spcBef>
                <a:spcPts val="300"/>
              </a:spcBef>
              <a:defRPr sz="800">
                <a:solidFill>
                  <a:srgbClr val="94A3B8"/>
                </a:solidFill>
              </a:defRPr>
            </a:pPr>
            <a:r>
              <a:t>Disallows referencing trade entry price before a position is actually opened.</a:t>
            </a:r>
          </a:p>
        </p:txBody>
      </p:sp>
      <p:pic>
        <p:nvPicPr>
          <p:cNvPr id="15" name="Picture 14" descr="screenshot_step4_negative_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004" y="3154680"/>
            <a:ext cx="9585510" cy="3108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INTERMEDIATE CODE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Three-Address Code (TAC) Quadruples &amp; Control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Lowering hierarchical AST logic into a linear, machine-independent execution stream.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30352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TAC QUADRUPLE SPECIFICATION &amp; SHORT-CIRCUIT FLOW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Quadruple Structure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Instructions emitted as (op, arg1, arg2, result). Linearizes nested arithmetic and boolean expressions bottom-up.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Register &amp; Label Pools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Monotonically increasing TempPool emits virtual registers t0, t1, t2...; LabelPool emits branch targets L0, L1, L2...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Short-Circuit Boolean Lowering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Boolean AND and OR expressions are lowered using conditional branch quadruples (if not t GOTO Lx), skipping evaluation of secondary operands when false.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First-Class Trading Actions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Dispatches high-level order directives directly in the instruction stream: ACTION [ENTRY] BUY 100.0 SHARES OF 'AAPL'.</a:t>
            </a:r>
          </a:p>
        </p:txBody>
      </p:sp>
      <p:pic>
        <p:nvPicPr>
          <p:cNvPr id="9" name="Picture 8" descr="screenshot_step5_ir_t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377" y="1691640"/>
            <a:ext cx="3654604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RUNTIME &amp; EXECUTION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Tree-Walking Interpreter &amp; Mathematical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Dynamic environment binding and vector technical indicator calculation algorithms.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01  Dynamic Environment Binding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Bar-by-Bar Runtime State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At every historical bar, a fresh Environment mapping is initialized with current bar prices (OPEN, HIGH, LOW, CLOSE, VOLUME).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Dynamic Variable Binding: ENTRY_PRICE is dynamically bound only when an open position exists.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Temporaries and indicator calculations are cached per bar to avoid redundant re-evaluations.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02  Vector Technical Indicators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High-Performance Incremental Math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SMA (Simple Moving Average): Sliding-window arithmetic mean with O(1)-amortized deque running sum.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EMA (Exponential Moving Average): Multiplier k = 2/(N+1), seeded with N-bar SMA window.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RSI (Relative Strength Index): Wilder's exponential smoothing tracking average gains and losses.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03  Portfolio State Machine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Realistic Order Simulation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Tracks cash balance, active Position (NONE, LONG, SHORT), and realized profit &amp; loss.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Order Dispatched on Signals: BUY, SELL, STOP_LOSS, TAKE_PROFIT.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Sizing Rules: Fixed share quantity or full liquidation (SELL ALL).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023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6052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04  Quantitative Correctness Oracle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End-to-End Compiler Validation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The interpreter serves as an executable specification test for every earlier compiler stage.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A semantic or IR lowering defect manifests immediately as an anomalous trade or metric.</a:t>
            </a:r>
          </a:p>
          <a:p>
            <a:pPr>
              <a:spcBef>
                <a:spcPts val="300"/>
              </a:spcBef>
              <a:defRPr sz="950">
                <a:solidFill>
                  <a:srgbClr val="F0F6FC"/>
                </a:solidFill>
              </a:defRPr>
            </a:pPr>
            <a:r>
              <a:t>• Ensures formal mathematical rigor across the entire language toolchain.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SIMULATION &amp; BACKTESTING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Backtest Execution Engine &amp; Visual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Executing compiled strategy against real historical AAPL data (220 trading bars).</a:t>
            </a:r>
          </a:p>
        </p:txBody>
      </p:sp>
      <p:pic>
        <p:nvPicPr>
          <p:cNvPr id="7" name="Picture 6" descr="screenshot_step6_backtes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987" y="1691640"/>
            <a:ext cx="4576585" cy="4572000"/>
          </a:xfrm>
          <a:prstGeom prst="rect">
            <a:avLst/>
          </a:prstGeom>
        </p:spPr>
      </p:pic>
      <p:pic>
        <p:nvPicPr>
          <p:cNvPr id="8" name="Picture 7" descr="equity_curv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83011"/>
            <a:ext cx="5303520" cy="2989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SCOPE ISOLATION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Multi-Strategy Compilation &amp; Lexical Scope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Compiling multi-strategy files with identical variable names in separate scopes.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30352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MULTI-STRATEGY COMPILATION ARCHITECTURE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Multi-Strategy Source Support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A single SwayaLang (.strat) file can define multiple distinct STRATEGY declarations (e.g. FastSMA and SlowSMA in multi_strategy.strat).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Independent Child Scopes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Each strategy definition receives an isolated child scope rooted in the Global Scope. Local symbols are scoped strictly to their respective strategies.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Lexical Collision Prevention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Both FastSMA and SlowSMA can declare independent indicator variables without namespace pollution or cross-strategy state bleeding.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▸ End-to-End Independent Execution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</a:defRPr>
            </a:pPr>
            <a:r>
              <a:t>The interpreter walks each StrategyNode independently, producing separate trade logs, portfolio metrics, and equity curves.</a:t>
            </a:r>
          </a:p>
        </p:txBody>
      </p:sp>
      <p:pic>
        <p:nvPicPr>
          <p:cNvPr id="9" name="Picture 8" descr="screenshot_multistrategy_is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04212"/>
            <a:ext cx="5120640" cy="33468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VERIFICATION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Demonstration &amp; Verification — 63 Tests Passing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Exhaustive automated testing across all 8 compiler and runtime modules (100% pass rate).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6032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test_lexer.py (11 Cases)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Token classification, line/col accuracy, LexErrors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56032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test_parser.py (6 Cases)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LL(1) grammar, operator precedence, syntax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256032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test_ast.py (4 Cases)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AST node creation, frozen immutability, pretty-print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834640"/>
            <a:ext cx="256032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9260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test_symbol_table.py (8 Cases)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Parent-pointer scopes, define/resolve, isolation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256032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69079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test_semantic.py (12 Cases)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Indicator signatures, 2-type rules, 4 error traps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977639"/>
            <a:ext cx="256032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069079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test_ir.py (4 Cases)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TAC quadruples, pools, short-circuit branch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256032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12079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test_interpreter.py (7 Cases)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Vector math (SMA/EMA/RSI), portfolio transitions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5120640"/>
            <a:ext cx="256032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5212079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test_driver.py (11 Cases)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End-to-end CLI flags, exit codes, output dumps</a:t>
            </a:r>
          </a:p>
        </p:txBody>
      </p:sp>
      <p:pic>
        <p:nvPicPr>
          <p:cNvPr id="23" name="Picture 22" descr="screenshot_pytest_su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537460"/>
            <a:ext cx="5120640" cy="2880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ENGINEERING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Principal Engineering Challenges &amp;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Key architectural hurdles resolved during Phase 2 compiler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Challenge 1: Compile-Time Declaration vs. Runtime State</a:t>
            </a:r>
          </a:p>
          <a:p>
            <a:pPr>
              <a:spcBef>
                <a:spcPts val="600"/>
              </a:spcBef>
              <a:defRPr sz="950">
                <a:solidFill>
                  <a:srgbClr val="F0F6FC"/>
                </a:solidFill>
              </a:defRPr>
            </a:pPr>
            <a:r>
              <a:t>Indicators are declared once in source code (e.g. SMA(CLOSE, 20)) but must be evaluated incrementally across hundreds of bars.</a:t>
            </a:r>
            <a:br/>
            <a:br/>
            <a:r>
              <a:t>Resolution: Kept the symbol table strictly compile-time (storing function signature and formula), while the interpreter instantiates stateful running-sum deques and smoothing accumulators at runtime.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Challenge 2: Contextual Keywords vs. Identifier Scoping</a:t>
            </a:r>
          </a:p>
          <a:p>
            <a:pPr>
              <a:spcBef>
                <a:spcPts val="600"/>
              </a:spcBef>
              <a:defRPr sz="950">
                <a:solidFill>
                  <a:srgbClr val="F0F6FC"/>
                </a:solidFill>
              </a:defRPr>
            </a:pPr>
            <a:r>
              <a:t>Price fields like CLOSE and PRICE act as reserved keywords in indicators but values in arithmetic expressions, creating shadowing risks.</a:t>
            </a:r>
            <a:br/>
            <a:br/>
            <a:r>
              <a:t>Resolution: Classified them as dedicated PRICE_FIELD tokens in the lexer (never IDENTIFIER), preventing accidental user shadowing (e.g. INDICATOR CLOSE = ...) at the grammar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Challenge 3: Linearizing Booleans with Short-Circuiting</a:t>
            </a:r>
          </a:p>
          <a:p>
            <a:pPr>
              <a:spcBef>
                <a:spcPts val="600"/>
              </a:spcBef>
              <a:defRPr sz="950">
                <a:solidFill>
                  <a:srgbClr val="F0F6FC"/>
                </a:solidFill>
              </a:defRPr>
            </a:pPr>
            <a:r>
              <a:t>Evaluating compound expressions (AND, OR) naively would trigger costly indicator evaluations even when the left operand is false.</a:t>
            </a:r>
            <a:br/>
            <a:br/>
            <a:r>
              <a:t>Resolution: Lowered boolean combinators into conditional branch quadruples (if not t GOTO Lx), providing genuine short-circuit evaluation directly at the TAC intermediate representation.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023360"/>
            <a:ext cx="52120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6052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Innovation: End-to-End Backtest as Verification Oracle</a:t>
            </a:r>
          </a:p>
          <a:p>
            <a:pPr>
              <a:spcBef>
                <a:spcPts val="600"/>
              </a:spcBef>
              <a:defRPr sz="950">
                <a:solidFill>
                  <a:srgbClr val="F0F6FC"/>
                </a:solidFill>
              </a:defRPr>
            </a:pPr>
            <a:r>
              <a:t>Compiler unit tests often stop at AST or TAC shape matching, missing subtle runtime semantic discrepancies.</a:t>
            </a:r>
            <a:br/>
            <a:br/>
            <a:r>
              <a:t>Resolution: Closed the loop with a simulated trading engine over real market data. Any semantic or IR code generation error immediately manifests as an invalid trade log or math anomaly.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ROADMAP &amp; EXECUTION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Roadmap &amp; Phase 3 Execution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Structured milestones from core implementation to code optimizations and final deliverables.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29000" cy="4526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920240"/>
            <a:ext cx="109728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Problem Definition &amp; Front-End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✓ Formal EBNF grammar design &amp; project scaffold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✓ Hand-written maximal-munch scanner &amp; LL(1) parser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✓ Immutable AST node hierarchy &amp; pretty-printer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✓ Prototype driver script &amp; 27 unit tests passing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429000" cy="4526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920240"/>
            <a:ext cx="1097280" cy="2743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REVIEW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Core Compiler &amp; Execution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78892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✓ Scoped Symbol Table across multi-strategy files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✓ Semantic Analyzer with 2-type system &amp; 4 error traps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✓ Three-Address Code (TAC) with short-circuit branching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✓ Bar-by-bar Interpreter &amp; vector indicator algorithms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✓ Portfolio state machine &amp; historical backtesting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✓ 63 automated pytest cases (100% pass rate)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737360"/>
            <a:ext cx="3429000" cy="4526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1920240"/>
            <a:ext cx="1097280" cy="2743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FINAL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3317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Code Optimization &amp; 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8892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▸ Constant Folding: Evaluate literal sub-expressions at compile time (CLOSE / (10 - 8) → CLOSE / 2)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▸ Common Subexpression Elimination (CSE): Deduplicate identical indicator calculations across rules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▸ Automated Equity Curve Plotting: Exporting matplotlib charts alongside JSON trade logs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▸ Interactive Strategy Web Dashboard &amp; Benchmarks</a:t>
            </a:r>
          </a:p>
          <a:p>
            <a:pPr>
              <a:spcBef>
                <a:spcPts val="800"/>
              </a:spcBef>
              <a:defRPr sz="950">
                <a:solidFill>
                  <a:srgbClr val="F0F6FC"/>
                </a:solidFill>
              </a:defRPr>
            </a:pPr>
            <a:r>
              <a:t>▸ Final Comprehensive Project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SWAYALANG // COMPILER DESIGN LAB (BCSE307P) — REVIEW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